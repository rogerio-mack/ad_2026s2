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9"/>
  </p:notesMasterIdLst>
  <p:sldIdLst>
    <p:sldId id="256" r:id="rId2"/>
    <p:sldId id="257" r:id="rId3"/>
    <p:sldId id="258" r:id="rId4"/>
    <p:sldId id="259" r:id="rId5"/>
    <p:sldId id="290" r:id="rId6"/>
    <p:sldId id="291" r:id="rId7"/>
    <p:sldId id="288" r:id="rId8"/>
    <p:sldId id="289" r:id="rId9"/>
    <p:sldId id="292" r:id="rId10"/>
    <p:sldId id="293" r:id="rId11"/>
    <p:sldId id="294" r:id="rId12"/>
    <p:sldId id="260" r:id="rId13"/>
    <p:sldId id="261" r:id="rId14"/>
    <p:sldId id="262" r:id="rId15"/>
    <p:sldId id="266" r:id="rId16"/>
    <p:sldId id="277" r:id="rId17"/>
    <p:sldId id="282" r:id="rId18"/>
    <p:sldId id="284" r:id="rId19"/>
    <p:sldId id="263" r:id="rId20"/>
    <p:sldId id="273" r:id="rId21"/>
    <p:sldId id="274" r:id="rId22"/>
    <p:sldId id="265" r:id="rId23"/>
    <p:sldId id="275" r:id="rId24"/>
    <p:sldId id="276" r:id="rId25"/>
    <p:sldId id="278" r:id="rId26"/>
    <p:sldId id="279" r:id="rId27"/>
    <p:sldId id="281" r:id="rId28"/>
    <p:sldId id="283" r:id="rId29"/>
    <p:sldId id="285" r:id="rId30"/>
    <p:sldId id="267" r:id="rId31"/>
    <p:sldId id="268" r:id="rId32"/>
    <p:sldId id="269" r:id="rId33"/>
    <p:sldId id="271" r:id="rId34"/>
    <p:sldId id="286" r:id="rId35"/>
    <p:sldId id="287" r:id="rId36"/>
    <p:sldId id="295" r:id="rId37"/>
    <p:sldId id="296" r:id="rId3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84088"/>
  </p:normalViewPr>
  <p:slideViewPr>
    <p:cSldViewPr snapToGrid="0">
      <p:cViewPr varScale="1">
        <p:scale>
          <a:sx n="45" d="100"/>
          <a:sy n="45" d="100"/>
        </p:scale>
        <p:origin x="7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D59CF7-3FC5-4A06-9598-0E2D1E518FB8}" type="datetimeFigureOut">
              <a:t>11/08/2026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C368A0-BE87-4DB1-9F97-6B9DFDAFAADD}" type="slidenum">
              <a:t>‹#›</a:t>
            </a:fld>
            <a:endParaRPr lang="pt-BR"/>
          </a:p>
        </p:txBody>
      </p:sp>
    </p:spTree>
    <p:extLst>
      <p:ext uri="{BB962C8B-B14F-4D97-AF65-F5344CB8AC3E}">
        <p14:creationId xmlns:p14="http://schemas.microsoft.com/office/powerpoint/2010/main" val="1191612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Qual é o melhor software, qual é a melhor linguagem?</a:t>
            </a:r>
          </a:p>
        </p:txBody>
      </p:sp>
      <p:sp>
        <p:nvSpPr>
          <p:cNvPr id="4" name="Espaço Reservado para Número de Slide 3"/>
          <p:cNvSpPr>
            <a:spLocks noGrp="1"/>
          </p:cNvSpPr>
          <p:nvPr>
            <p:ph type="sldNum" sz="quarter" idx="5"/>
          </p:nvPr>
        </p:nvSpPr>
        <p:spPr/>
        <p:txBody>
          <a:bodyPr/>
          <a:lstStyle/>
          <a:p>
            <a:fld id="{27C368A0-BE87-4DB1-9F97-6B9DFDAFAADD}" type="slidenum">
              <a:rPr lang="pt-BR" smtClean="0"/>
              <a:t>5</a:t>
            </a:fld>
            <a:endParaRPr lang="pt-BR"/>
          </a:p>
        </p:txBody>
      </p:sp>
    </p:spTree>
    <p:extLst>
      <p:ext uri="{BB962C8B-B14F-4D97-AF65-F5344CB8AC3E}">
        <p14:creationId xmlns:p14="http://schemas.microsoft.com/office/powerpoint/2010/main" val="113291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partir dessa amostra tiramos conclusões com relação a população</a:t>
            </a:r>
          </a:p>
        </p:txBody>
      </p:sp>
      <p:sp>
        <p:nvSpPr>
          <p:cNvPr id="4" name="Espaço Reservado para Número de Slide 3"/>
          <p:cNvSpPr>
            <a:spLocks noGrp="1"/>
          </p:cNvSpPr>
          <p:nvPr>
            <p:ph type="sldNum" sz="quarter" idx="5"/>
          </p:nvPr>
        </p:nvSpPr>
        <p:spPr/>
        <p:txBody>
          <a:bodyPr/>
          <a:lstStyle/>
          <a:p>
            <a:fld id="{27C368A0-BE87-4DB1-9F97-6B9DFDAFAADD}" type="slidenum">
              <a:rPr lang="pt-BR" smtClean="0"/>
              <a:t>6</a:t>
            </a:fld>
            <a:endParaRPr lang="pt-BR"/>
          </a:p>
        </p:txBody>
      </p:sp>
    </p:spTree>
    <p:extLst>
      <p:ext uri="{BB962C8B-B14F-4D97-AF65-F5344CB8AC3E}">
        <p14:creationId xmlns:p14="http://schemas.microsoft.com/office/powerpoint/2010/main" val="3015254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b="1" dirty="0" err="1"/>
              <a:t>Inferência</a:t>
            </a:r>
            <a:r>
              <a:rPr lang="en-US" b="1" dirty="0"/>
              <a:t> </a:t>
            </a:r>
            <a:r>
              <a:rPr lang="en-US" b="1" dirty="0" err="1"/>
              <a:t>Estatística</a:t>
            </a:r>
            <a:r>
              <a:rPr lang="en-US" dirty="0"/>
              <a:t> </a:t>
            </a:r>
            <a:r>
              <a:rPr lang="en-US" dirty="0" err="1"/>
              <a:t>é</a:t>
            </a:r>
            <a:r>
              <a:rPr lang="en-US" dirty="0"/>
              <a:t> um </a:t>
            </a:r>
            <a:r>
              <a:rPr lang="en-US" dirty="0" err="1"/>
              <a:t>ramo</a:t>
            </a:r>
            <a:r>
              <a:rPr lang="en-US" dirty="0"/>
              <a:t> da </a:t>
            </a:r>
            <a:r>
              <a:rPr lang="en-US" dirty="0" err="1"/>
              <a:t>estatística</a:t>
            </a:r>
            <a:r>
              <a:rPr lang="en-US" dirty="0"/>
              <a:t> que se </a:t>
            </a:r>
            <a:r>
              <a:rPr lang="en-US" dirty="0" err="1"/>
              <a:t>ocupa</a:t>
            </a:r>
            <a:r>
              <a:rPr lang="en-US" dirty="0"/>
              <a:t> de </a:t>
            </a:r>
            <a:r>
              <a:rPr lang="en-US" dirty="0" err="1"/>
              <a:t>fazer</a:t>
            </a:r>
            <a:r>
              <a:rPr lang="en-US" dirty="0"/>
              <a:t> </a:t>
            </a:r>
            <a:r>
              <a:rPr lang="en-US" dirty="0" err="1"/>
              <a:t>previsões</a:t>
            </a:r>
            <a:r>
              <a:rPr lang="en-US" dirty="0"/>
              <a:t> </a:t>
            </a:r>
            <a:r>
              <a:rPr lang="en-US" dirty="0" err="1"/>
              <a:t>ou</a:t>
            </a:r>
            <a:r>
              <a:rPr lang="en-US" dirty="0"/>
              <a:t> </a:t>
            </a:r>
            <a:r>
              <a:rPr lang="en-US" dirty="0" err="1"/>
              <a:t>tirar</a:t>
            </a:r>
            <a:r>
              <a:rPr lang="en-US" dirty="0"/>
              <a:t> </a:t>
            </a:r>
            <a:r>
              <a:rPr lang="en-US" dirty="0" err="1"/>
              <a:t>conclusões</a:t>
            </a:r>
            <a:r>
              <a:rPr lang="en-US" dirty="0"/>
              <a:t> </a:t>
            </a:r>
            <a:r>
              <a:rPr lang="en-US" dirty="0" err="1"/>
              <a:t>sobre</a:t>
            </a:r>
            <a:r>
              <a:rPr lang="en-US" dirty="0"/>
              <a:t> </a:t>
            </a:r>
            <a:r>
              <a:rPr lang="en-US" dirty="0" err="1"/>
              <a:t>uma</a:t>
            </a:r>
            <a:r>
              <a:rPr lang="en-US" dirty="0"/>
              <a:t> </a:t>
            </a:r>
            <a:r>
              <a:rPr lang="en-US" dirty="0" err="1"/>
              <a:t>população</a:t>
            </a:r>
            <a:r>
              <a:rPr lang="en-US" dirty="0"/>
              <a:t> com base </a:t>
            </a:r>
            <a:r>
              <a:rPr lang="en-US" dirty="0" err="1"/>
              <a:t>em</a:t>
            </a:r>
            <a:r>
              <a:rPr lang="en-US" dirty="0"/>
              <a:t> </a:t>
            </a:r>
            <a:r>
              <a:rPr lang="en-US" dirty="0" err="1"/>
              <a:t>uma</a:t>
            </a:r>
            <a:r>
              <a:rPr lang="en-US" dirty="0"/>
              <a:t> </a:t>
            </a:r>
            <a:r>
              <a:rPr lang="en-US" dirty="0" err="1"/>
              <a:t>amostra</a:t>
            </a:r>
            <a:r>
              <a:rPr lang="en-US" dirty="0"/>
              <a:t> de dados. </a:t>
            </a:r>
            <a:r>
              <a:rPr lang="en-US" dirty="0" err="1"/>
              <a:t>Envolve</a:t>
            </a:r>
            <a:r>
              <a:rPr lang="en-US" dirty="0"/>
              <a:t> </a:t>
            </a:r>
            <a:r>
              <a:rPr lang="en-US" dirty="0" err="1"/>
              <a:t>métodos</a:t>
            </a:r>
            <a:r>
              <a:rPr lang="en-US" dirty="0"/>
              <a:t> e </a:t>
            </a:r>
            <a:r>
              <a:rPr lang="en-US" dirty="0" err="1"/>
              <a:t>técnicas</a:t>
            </a:r>
            <a:r>
              <a:rPr lang="en-US" dirty="0"/>
              <a:t> para:</a:t>
            </a:r>
            <a:endParaRPr lang="pt-BR" dirty="0"/>
          </a:p>
          <a:p>
            <a:pPr marL="285750" indent="-285750">
              <a:buFont typeface="Arial"/>
              <a:buChar char="•"/>
            </a:pPr>
            <a:r>
              <a:rPr lang="en-US" b="1" dirty="0" err="1"/>
              <a:t>Estimativa</a:t>
            </a:r>
            <a:r>
              <a:rPr lang="en-US" b="1" dirty="0"/>
              <a:t> de </a:t>
            </a:r>
            <a:r>
              <a:rPr lang="en-US" b="1" dirty="0" err="1"/>
              <a:t>Parâmetros</a:t>
            </a:r>
            <a:r>
              <a:rPr lang="en-US" dirty="0"/>
              <a:t>: </a:t>
            </a:r>
            <a:r>
              <a:rPr lang="en-US" dirty="0" err="1"/>
              <a:t>Determinar</a:t>
            </a:r>
            <a:r>
              <a:rPr lang="en-US" dirty="0"/>
              <a:t> </a:t>
            </a:r>
            <a:r>
              <a:rPr lang="en-US" dirty="0" err="1"/>
              <a:t>valores</a:t>
            </a:r>
            <a:r>
              <a:rPr lang="en-US" dirty="0"/>
              <a:t> </a:t>
            </a:r>
            <a:r>
              <a:rPr lang="en-US" dirty="0" err="1"/>
              <a:t>aproximados</a:t>
            </a:r>
            <a:r>
              <a:rPr lang="en-US" dirty="0"/>
              <a:t> de </a:t>
            </a:r>
            <a:r>
              <a:rPr lang="en-US" dirty="0" err="1"/>
              <a:t>parâmetros</a:t>
            </a:r>
            <a:r>
              <a:rPr lang="en-US" dirty="0"/>
              <a:t> </a:t>
            </a:r>
            <a:r>
              <a:rPr lang="en-US" dirty="0" err="1"/>
              <a:t>desconhecidos</a:t>
            </a:r>
            <a:r>
              <a:rPr lang="en-US" dirty="0"/>
              <a:t> da </a:t>
            </a:r>
            <a:r>
              <a:rPr lang="en-US" dirty="0" err="1"/>
              <a:t>população</a:t>
            </a:r>
            <a:r>
              <a:rPr lang="en-US" dirty="0"/>
              <a:t>.</a:t>
            </a:r>
            <a:endParaRPr lang="pt-BR" dirty="0"/>
          </a:p>
          <a:p>
            <a:pPr marL="285750" indent="-285750">
              <a:buFont typeface="Arial"/>
              <a:buChar char="•"/>
            </a:pPr>
            <a:r>
              <a:rPr lang="en-US" b="1" dirty="0"/>
              <a:t>Testes de </a:t>
            </a:r>
            <a:r>
              <a:rPr lang="en-US" b="1" dirty="0" err="1"/>
              <a:t>Hipóteses</a:t>
            </a:r>
            <a:r>
              <a:rPr lang="en-US" dirty="0"/>
              <a:t>: </a:t>
            </a:r>
            <a:r>
              <a:rPr lang="en-US" dirty="0" err="1"/>
              <a:t>Avaliar</a:t>
            </a:r>
            <a:r>
              <a:rPr lang="en-US" dirty="0"/>
              <a:t> </a:t>
            </a:r>
            <a:r>
              <a:rPr lang="en-US" dirty="0" err="1"/>
              <a:t>suposições</a:t>
            </a:r>
            <a:r>
              <a:rPr lang="en-US" dirty="0"/>
              <a:t> </a:t>
            </a:r>
            <a:r>
              <a:rPr lang="en-US" dirty="0" err="1"/>
              <a:t>ou</a:t>
            </a:r>
            <a:r>
              <a:rPr lang="en-US" dirty="0"/>
              <a:t> </a:t>
            </a:r>
            <a:r>
              <a:rPr lang="en-US" dirty="0" err="1"/>
              <a:t>hipóteses</a:t>
            </a:r>
            <a:r>
              <a:rPr lang="en-US" dirty="0"/>
              <a:t> </a:t>
            </a:r>
            <a:r>
              <a:rPr lang="en-US" dirty="0" err="1"/>
              <a:t>sobre</a:t>
            </a:r>
            <a:r>
              <a:rPr lang="en-US" dirty="0"/>
              <a:t> </a:t>
            </a:r>
            <a:r>
              <a:rPr lang="en-US" dirty="0" err="1"/>
              <a:t>parâmetros</a:t>
            </a:r>
            <a:r>
              <a:rPr lang="en-US" dirty="0"/>
              <a:t> </a:t>
            </a:r>
            <a:r>
              <a:rPr lang="en-US" dirty="0" err="1"/>
              <a:t>populacionais</a:t>
            </a:r>
            <a:r>
              <a:rPr lang="en-US" dirty="0"/>
              <a:t>.</a:t>
            </a:r>
            <a:endParaRPr lang="pt-BR" dirty="0"/>
          </a:p>
          <a:p>
            <a:pPr marL="285750" indent="-285750">
              <a:buFont typeface="Arial"/>
              <a:buChar char="•"/>
            </a:pPr>
            <a:r>
              <a:rPr lang="en-US" b="1" dirty="0" err="1"/>
              <a:t>Intervalos</a:t>
            </a:r>
            <a:r>
              <a:rPr lang="en-US" b="1" dirty="0"/>
              <a:t> de </a:t>
            </a:r>
            <a:r>
              <a:rPr lang="en-US" b="1" dirty="0" err="1"/>
              <a:t>Confiança</a:t>
            </a:r>
            <a:r>
              <a:rPr lang="en-US" dirty="0"/>
              <a:t>: </a:t>
            </a:r>
            <a:r>
              <a:rPr lang="en-US" dirty="0" err="1"/>
              <a:t>Estimar</a:t>
            </a:r>
            <a:r>
              <a:rPr lang="en-US" dirty="0"/>
              <a:t> o </a:t>
            </a:r>
            <a:r>
              <a:rPr lang="en-US" dirty="0" err="1"/>
              <a:t>intervalo</a:t>
            </a:r>
            <a:r>
              <a:rPr lang="en-US" dirty="0"/>
              <a:t> dentro do qual um </a:t>
            </a:r>
            <a:r>
              <a:rPr lang="en-US" dirty="0" err="1"/>
              <a:t>parâmetro</a:t>
            </a:r>
            <a:r>
              <a:rPr lang="en-US" dirty="0"/>
              <a:t> </a:t>
            </a:r>
            <a:r>
              <a:rPr lang="en-US" dirty="0" err="1"/>
              <a:t>populacional</a:t>
            </a:r>
            <a:r>
              <a:rPr lang="en-US" dirty="0"/>
              <a:t> </a:t>
            </a:r>
            <a:r>
              <a:rPr lang="en-US" dirty="0" err="1"/>
              <a:t>provavelmente</a:t>
            </a:r>
            <a:r>
              <a:rPr lang="en-US" dirty="0"/>
              <a:t> se </a:t>
            </a:r>
            <a:r>
              <a:rPr lang="en-US" dirty="0" err="1"/>
              <a:t>encontra</a:t>
            </a:r>
            <a:r>
              <a:rPr lang="en-US" dirty="0"/>
              <a:t>.</a:t>
            </a:r>
            <a:endParaRPr lang="pt-BR" dirty="0"/>
          </a:p>
          <a:p>
            <a:r>
              <a:rPr lang="en-US" dirty="0"/>
              <a:t>A </a:t>
            </a:r>
            <a:r>
              <a:rPr lang="en-US" dirty="0" err="1"/>
              <a:t>inferência</a:t>
            </a:r>
            <a:r>
              <a:rPr lang="en-US" dirty="0"/>
              <a:t> </a:t>
            </a:r>
            <a:r>
              <a:rPr lang="en-US" dirty="0" err="1"/>
              <a:t>estatística</a:t>
            </a:r>
            <a:r>
              <a:rPr lang="en-US" dirty="0"/>
              <a:t> </a:t>
            </a:r>
            <a:r>
              <a:rPr lang="en-US" dirty="0" err="1"/>
              <a:t>permite</a:t>
            </a:r>
            <a:r>
              <a:rPr lang="en-US" dirty="0"/>
              <a:t> a </a:t>
            </a:r>
            <a:r>
              <a:rPr lang="en-US" dirty="0" err="1"/>
              <a:t>generalização</a:t>
            </a:r>
            <a:r>
              <a:rPr lang="en-US" dirty="0"/>
              <a:t> dos </a:t>
            </a:r>
            <a:r>
              <a:rPr lang="en-US" dirty="0" err="1"/>
              <a:t>resultados</a:t>
            </a:r>
            <a:r>
              <a:rPr lang="en-US" dirty="0"/>
              <a:t> </a:t>
            </a:r>
            <a:r>
              <a:rPr lang="en-US" dirty="0" err="1"/>
              <a:t>obtidos</a:t>
            </a:r>
            <a:r>
              <a:rPr lang="en-US" dirty="0"/>
              <a:t> a </a:t>
            </a:r>
            <a:r>
              <a:rPr lang="en-US" dirty="0" err="1"/>
              <a:t>partir</a:t>
            </a:r>
            <a:r>
              <a:rPr lang="en-US" dirty="0"/>
              <a:t> de </a:t>
            </a:r>
            <a:r>
              <a:rPr lang="en-US" dirty="0" err="1"/>
              <a:t>uma</a:t>
            </a:r>
            <a:r>
              <a:rPr lang="en-US" dirty="0"/>
              <a:t> </a:t>
            </a:r>
            <a:r>
              <a:rPr lang="en-US" dirty="0" err="1"/>
              <a:t>amostra</a:t>
            </a:r>
            <a:r>
              <a:rPr lang="en-US" dirty="0"/>
              <a:t> para </a:t>
            </a:r>
            <a:r>
              <a:rPr lang="en-US" dirty="0" err="1"/>
              <a:t>uma</a:t>
            </a:r>
            <a:r>
              <a:rPr lang="en-US" dirty="0"/>
              <a:t> </a:t>
            </a:r>
            <a:r>
              <a:rPr lang="en-US" dirty="0" err="1"/>
              <a:t>população</a:t>
            </a:r>
            <a:r>
              <a:rPr lang="en-US" dirty="0"/>
              <a:t> </a:t>
            </a:r>
            <a:r>
              <a:rPr lang="en-US" dirty="0" err="1"/>
              <a:t>maior</a:t>
            </a:r>
            <a:r>
              <a:rPr lang="en-US" dirty="0"/>
              <a:t>, com um </a:t>
            </a:r>
            <a:r>
              <a:rPr lang="en-US" dirty="0" err="1"/>
              <a:t>certo</a:t>
            </a:r>
            <a:r>
              <a:rPr lang="en-US" dirty="0"/>
              <a:t> </a:t>
            </a:r>
            <a:r>
              <a:rPr lang="en-US" dirty="0" err="1"/>
              <a:t>grau</a:t>
            </a:r>
            <a:r>
              <a:rPr lang="en-US" dirty="0"/>
              <a:t> de </a:t>
            </a:r>
            <a:r>
              <a:rPr lang="en-US" dirty="0" err="1"/>
              <a:t>confiança</a:t>
            </a:r>
            <a:r>
              <a:rPr lang="en-US" dirty="0"/>
              <a:t> e </a:t>
            </a:r>
            <a:r>
              <a:rPr lang="en-US" dirty="0" err="1"/>
              <a:t>probabilidade</a:t>
            </a:r>
            <a:r>
              <a:rPr lang="en-US" dirty="0"/>
              <a:t>.</a:t>
            </a:r>
            <a:endParaRPr lang="pt-BR" dirty="0"/>
          </a:p>
          <a:p>
            <a:endParaRPr lang="en-US" dirty="0">
              <a:cs typeface="Calibri"/>
            </a:endParaRPr>
          </a:p>
        </p:txBody>
      </p:sp>
      <p:sp>
        <p:nvSpPr>
          <p:cNvPr id="4" name="Espaço Reservado para Número de Slide 3"/>
          <p:cNvSpPr>
            <a:spLocks noGrp="1"/>
          </p:cNvSpPr>
          <p:nvPr>
            <p:ph type="sldNum" sz="quarter" idx="5"/>
          </p:nvPr>
        </p:nvSpPr>
        <p:spPr/>
        <p:txBody>
          <a:bodyPr/>
          <a:lstStyle/>
          <a:p>
            <a:fld id="{27C368A0-BE87-4DB1-9F97-6B9DFDAFAADD}" type="slidenum">
              <a:t>12</a:t>
            </a:fld>
            <a:endParaRPr lang="pt-BR"/>
          </a:p>
        </p:txBody>
      </p:sp>
    </p:spTree>
    <p:extLst>
      <p:ext uri="{BB962C8B-B14F-4D97-AF65-F5344CB8AC3E}">
        <p14:creationId xmlns:p14="http://schemas.microsoft.com/office/powerpoint/2010/main" val="1561334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que são TPUs?</a:t>
            </a:r>
          </a:p>
          <a:p>
            <a:r>
              <a:rPr lang="pt-BR" b="1" err="1"/>
              <a:t>TPUs</a:t>
            </a:r>
            <a:r>
              <a:rPr lang="pt-BR" b="1"/>
              <a:t> (Tensor </a:t>
            </a:r>
            <a:r>
              <a:rPr lang="pt-BR" b="1" err="1"/>
              <a:t>Processing</a:t>
            </a:r>
            <a:r>
              <a:rPr lang="pt-BR" b="1"/>
              <a:t> </a:t>
            </a:r>
            <a:r>
              <a:rPr lang="pt-BR" b="1" err="1"/>
              <a:t>Units</a:t>
            </a:r>
            <a:r>
              <a:rPr lang="pt-BR" b="1"/>
              <a:t>)</a:t>
            </a:r>
            <a:r>
              <a:rPr lang="pt-BR"/>
              <a:t> são unidades de processamento projetadas especificamente pelo Google para acelerar cargas de trabalho de aprendizado de máquina. Elas são usadas principalmente para treinar e executar modelos de aprendizado profundo.</a:t>
            </a:r>
          </a:p>
          <a:p>
            <a:endParaRPr lang="pt-BR">
              <a:cs typeface="Calibri"/>
            </a:endParaRPr>
          </a:p>
          <a:p>
            <a:r>
              <a:rPr lang="pt-BR"/>
              <a:t>Comparação Direta</a:t>
            </a:r>
          </a:p>
          <a:p>
            <a:pPr marL="285750" indent="-285750">
              <a:buFont typeface="Arial"/>
              <a:buChar char="•"/>
            </a:pPr>
            <a:r>
              <a:rPr lang="en-US" b="1" err="1"/>
              <a:t>Desempenho</a:t>
            </a:r>
            <a:r>
              <a:rPr lang="en-US"/>
              <a:t>: TPUs </a:t>
            </a:r>
            <a:r>
              <a:rPr lang="en-US" err="1"/>
              <a:t>geralmente</a:t>
            </a:r>
            <a:r>
              <a:rPr lang="en-US"/>
              <a:t> </a:t>
            </a:r>
            <a:r>
              <a:rPr lang="en-US" err="1"/>
              <a:t>superam</a:t>
            </a:r>
            <a:r>
              <a:rPr lang="en-US"/>
              <a:t> GPUs </a:t>
            </a:r>
            <a:r>
              <a:rPr lang="en-US" err="1"/>
              <a:t>em</a:t>
            </a:r>
            <a:r>
              <a:rPr lang="en-US"/>
              <a:t> </a:t>
            </a:r>
            <a:r>
              <a:rPr lang="en-US" err="1"/>
              <a:t>tarefas</a:t>
            </a:r>
            <a:r>
              <a:rPr lang="en-US"/>
              <a:t> de </a:t>
            </a:r>
            <a:r>
              <a:rPr lang="en-US" err="1"/>
              <a:t>aprendizado</a:t>
            </a:r>
            <a:r>
              <a:rPr lang="en-US"/>
              <a:t> profundo </a:t>
            </a:r>
            <a:r>
              <a:rPr lang="en-US" err="1"/>
              <a:t>específicas</a:t>
            </a:r>
            <a:r>
              <a:rPr lang="en-US"/>
              <a:t> </a:t>
            </a:r>
            <a:r>
              <a:rPr lang="en-US" err="1"/>
              <a:t>devido</a:t>
            </a:r>
            <a:r>
              <a:rPr lang="en-US"/>
              <a:t> à </a:t>
            </a:r>
            <a:r>
              <a:rPr lang="en-US" err="1"/>
              <a:t>sua</a:t>
            </a:r>
            <a:r>
              <a:rPr lang="en-US"/>
              <a:t> </a:t>
            </a:r>
            <a:r>
              <a:rPr lang="en-US" err="1"/>
              <a:t>arquitetura</a:t>
            </a:r>
            <a:r>
              <a:rPr lang="en-US"/>
              <a:t> </a:t>
            </a:r>
            <a:r>
              <a:rPr lang="en-US" err="1"/>
              <a:t>otimizada</a:t>
            </a:r>
            <a:r>
              <a:rPr lang="en-US"/>
              <a:t>.</a:t>
            </a:r>
            <a:endParaRPr lang="pt-BR"/>
          </a:p>
          <a:p>
            <a:pPr marL="285750" indent="-285750">
              <a:buFont typeface="Arial"/>
              <a:buChar char="•"/>
            </a:pPr>
            <a:r>
              <a:rPr lang="en-US" b="1" err="1"/>
              <a:t>Flexibilidade</a:t>
            </a:r>
            <a:r>
              <a:rPr lang="en-US"/>
              <a:t>: GPUs </a:t>
            </a:r>
            <a:r>
              <a:rPr lang="en-US" err="1"/>
              <a:t>são</a:t>
            </a:r>
            <a:r>
              <a:rPr lang="en-US"/>
              <a:t> </a:t>
            </a:r>
            <a:r>
              <a:rPr lang="en-US" err="1"/>
              <a:t>mais</a:t>
            </a:r>
            <a:r>
              <a:rPr lang="en-US"/>
              <a:t> </a:t>
            </a:r>
            <a:r>
              <a:rPr lang="en-US" err="1"/>
              <a:t>versáteis</a:t>
            </a:r>
            <a:r>
              <a:rPr lang="en-US"/>
              <a:t> e </a:t>
            </a:r>
            <a:r>
              <a:rPr lang="en-US" err="1"/>
              <a:t>podem</a:t>
            </a:r>
            <a:r>
              <a:rPr lang="en-US"/>
              <a:t> ser </a:t>
            </a:r>
            <a:r>
              <a:rPr lang="en-US" err="1"/>
              <a:t>usadas</a:t>
            </a:r>
            <a:r>
              <a:rPr lang="en-US"/>
              <a:t> para </a:t>
            </a:r>
            <a:r>
              <a:rPr lang="en-US" err="1"/>
              <a:t>uma</a:t>
            </a:r>
            <a:r>
              <a:rPr lang="en-US"/>
              <a:t> </a:t>
            </a:r>
            <a:r>
              <a:rPr lang="en-US" err="1"/>
              <a:t>gama</a:t>
            </a:r>
            <a:r>
              <a:rPr lang="en-US"/>
              <a:t> </a:t>
            </a:r>
            <a:r>
              <a:rPr lang="en-US" err="1"/>
              <a:t>maior</a:t>
            </a:r>
            <a:r>
              <a:rPr lang="en-US"/>
              <a:t> de </a:t>
            </a:r>
            <a:r>
              <a:rPr lang="en-US" err="1"/>
              <a:t>aplicações</a:t>
            </a:r>
            <a:r>
              <a:rPr lang="en-US"/>
              <a:t> </a:t>
            </a:r>
            <a:r>
              <a:rPr lang="en-US" err="1"/>
              <a:t>além</a:t>
            </a:r>
            <a:r>
              <a:rPr lang="en-US"/>
              <a:t> de </a:t>
            </a:r>
            <a:r>
              <a:rPr lang="en-US" err="1"/>
              <a:t>aprendizado</a:t>
            </a:r>
            <a:r>
              <a:rPr lang="en-US"/>
              <a:t> de </a:t>
            </a:r>
            <a:r>
              <a:rPr lang="en-US" err="1"/>
              <a:t>máquina</a:t>
            </a:r>
            <a:r>
              <a:rPr lang="en-US"/>
              <a:t>.</a:t>
            </a:r>
            <a:endParaRPr lang="pt-BR"/>
          </a:p>
          <a:p>
            <a:pPr marL="285750" indent="-285750">
              <a:buFont typeface="Arial"/>
              <a:buChar char="•"/>
            </a:pPr>
            <a:r>
              <a:rPr lang="en-US" b="1"/>
              <a:t>Custo e </a:t>
            </a:r>
            <a:r>
              <a:rPr lang="en-US" b="1" err="1"/>
              <a:t>Acesso</a:t>
            </a:r>
            <a:r>
              <a:rPr lang="en-US"/>
              <a:t>: TPUs </a:t>
            </a:r>
            <a:r>
              <a:rPr lang="en-US" err="1"/>
              <a:t>são</a:t>
            </a:r>
            <a:r>
              <a:rPr lang="en-US"/>
              <a:t> </a:t>
            </a:r>
            <a:r>
              <a:rPr lang="en-US" err="1"/>
              <a:t>frequentemente</a:t>
            </a:r>
            <a:r>
              <a:rPr lang="en-US"/>
              <a:t> </a:t>
            </a:r>
            <a:r>
              <a:rPr lang="en-US" err="1"/>
              <a:t>acessadas</a:t>
            </a:r>
            <a:r>
              <a:rPr lang="en-US"/>
              <a:t> via </a:t>
            </a:r>
            <a:r>
              <a:rPr lang="en-US" err="1"/>
              <a:t>serviços</a:t>
            </a:r>
            <a:r>
              <a:rPr lang="en-US"/>
              <a:t> </a:t>
            </a:r>
            <a:r>
              <a:rPr lang="en-US" err="1"/>
              <a:t>em</a:t>
            </a:r>
            <a:r>
              <a:rPr lang="en-US"/>
              <a:t> </a:t>
            </a:r>
            <a:r>
              <a:rPr lang="en-US" err="1"/>
              <a:t>nuvem</a:t>
            </a:r>
            <a:r>
              <a:rPr lang="en-US"/>
              <a:t> (</a:t>
            </a:r>
            <a:r>
              <a:rPr lang="en-US" err="1"/>
              <a:t>como</a:t>
            </a:r>
            <a:r>
              <a:rPr lang="en-US"/>
              <a:t> Google Cloud), </a:t>
            </a:r>
            <a:r>
              <a:rPr lang="en-US" err="1"/>
              <a:t>enquanto</a:t>
            </a:r>
            <a:r>
              <a:rPr lang="en-US"/>
              <a:t> GPUs </a:t>
            </a:r>
            <a:r>
              <a:rPr lang="en-US" err="1"/>
              <a:t>podem</a:t>
            </a:r>
            <a:r>
              <a:rPr lang="en-US"/>
              <a:t> ser </a:t>
            </a:r>
            <a:r>
              <a:rPr lang="en-US" err="1"/>
              <a:t>compradas</a:t>
            </a:r>
            <a:r>
              <a:rPr lang="en-US"/>
              <a:t> e </a:t>
            </a:r>
            <a:r>
              <a:rPr lang="en-US" err="1"/>
              <a:t>instaladas</a:t>
            </a:r>
            <a:r>
              <a:rPr lang="en-US"/>
              <a:t> </a:t>
            </a:r>
            <a:r>
              <a:rPr lang="en-US" err="1"/>
              <a:t>em</a:t>
            </a:r>
            <a:r>
              <a:rPr lang="en-US"/>
              <a:t> </a:t>
            </a:r>
            <a:r>
              <a:rPr lang="en-US" err="1"/>
              <a:t>sistemas</a:t>
            </a:r>
            <a:r>
              <a:rPr lang="en-US"/>
              <a:t> </a:t>
            </a:r>
            <a:r>
              <a:rPr lang="en-US" err="1"/>
              <a:t>locais</a:t>
            </a:r>
            <a:r>
              <a:rPr lang="en-US"/>
              <a:t>.</a:t>
            </a:r>
            <a:endParaRPr lang="pt-BR"/>
          </a:p>
          <a:p>
            <a:r>
              <a:rPr lang="pt-BR"/>
              <a:t>Conclusão</a:t>
            </a:r>
            <a:endParaRPr lang="pt-BR">
              <a:cs typeface="Calibri"/>
            </a:endParaRPr>
          </a:p>
          <a:p>
            <a:pPr marL="285750" indent="-285750">
              <a:buFont typeface="Arial"/>
              <a:buChar char="•"/>
            </a:pPr>
            <a:r>
              <a:rPr lang="en-US" b="1" err="1"/>
              <a:t>Escolha</a:t>
            </a:r>
            <a:r>
              <a:rPr lang="en-US"/>
              <a:t>: </a:t>
            </a:r>
            <a:r>
              <a:rPr lang="en-US" err="1"/>
              <a:t>Depende</a:t>
            </a:r>
            <a:r>
              <a:rPr lang="en-US"/>
              <a:t> da </a:t>
            </a:r>
            <a:r>
              <a:rPr lang="en-US" err="1"/>
              <a:t>natureza</a:t>
            </a:r>
            <a:r>
              <a:rPr lang="en-US"/>
              <a:t> da </a:t>
            </a:r>
            <a:r>
              <a:rPr lang="en-US" err="1"/>
              <a:t>tarefa</a:t>
            </a:r>
            <a:r>
              <a:rPr lang="en-US"/>
              <a:t>; TPUs para </a:t>
            </a:r>
            <a:r>
              <a:rPr lang="en-US" err="1"/>
              <a:t>aprendizado</a:t>
            </a:r>
            <a:r>
              <a:rPr lang="en-US"/>
              <a:t> profundo </a:t>
            </a:r>
            <a:r>
              <a:rPr lang="en-US" err="1"/>
              <a:t>especializado</a:t>
            </a:r>
            <a:r>
              <a:rPr lang="en-US"/>
              <a:t> e GPUs para </a:t>
            </a:r>
            <a:r>
              <a:rPr lang="en-US" err="1"/>
              <a:t>uma</a:t>
            </a:r>
            <a:r>
              <a:rPr lang="en-US"/>
              <a:t> </a:t>
            </a:r>
            <a:r>
              <a:rPr lang="en-US" err="1"/>
              <a:t>variedade</a:t>
            </a:r>
            <a:r>
              <a:rPr lang="en-US"/>
              <a:t> de </a:t>
            </a:r>
            <a:r>
              <a:rPr lang="en-US" err="1"/>
              <a:t>aplicações</a:t>
            </a:r>
            <a:r>
              <a:rPr lang="en-US"/>
              <a:t> </a:t>
            </a:r>
            <a:r>
              <a:rPr lang="en-US" err="1"/>
              <a:t>computacionais</a:t>
            </a:r>
            <a:r>
              <a:rPr lang="en-US"/>
              <a:t> </a:t>
            </a:r>
            <a:r>
              <a:rPr lang="en-US" err="1"/>
              <a:t>intensivas</a:t>
            </a:r>
            <a:r>
              <a:rPr lang="en-US"/>
              <a:t>.</a:t>
            </a:r>
            <a:endParaRPr lang="pt-BR"/>
          </a:p>
          <a:p>
            <a:endParaRPr lang="en-US">
              <a:cs typeface="Calibri"/>
            </a:endParaRPr>
          </a:p>
        </p:txBody>
      </p:sp>
      <p:sp>
        <p:nvSpPr>
          <p:cNvPr id="4" name="Espaço Reservado para Número de Slide 3"/>
          <p:cNvSpPr>
            <a:spLocks noGrp="1"/>
          </p:cNvSpPr>
          <p:nvPr>
            <p:ph type="sldNum" sz="quarter" idx="5"/>
          </p:nvPr>
        </p:nvSpPr>
        <p:spPr/>
        <p:txBody>
          <a:bodyPr/>
          <a:lstStyle/>
          <a:p>
            <a:fld id="{27C368A0-BE87-4DB1-9F97-6B9DFDAFAADD}" type="slidenum">
              <a:t>14</a:t>
            </a:fld>
            <a:endParaRPr lang="pt-BR"/>
          </a:p>
        </p:txBody>
      </p:sp>
    </p:spTree>
    <p:extLst>
      <p:ext uri="{BB962C8B-B14F-4D97-AF65-F5344CB8AC3E}">
        <p14:creationId xmlns:p14="http://schemas.microsoft.com/office/powerpoint/2010/main" val="507693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err="1">
                <a:ea typeface="Calibri"/>
                <a:cs typeface="Calibri"/>
              </a:rPr>
              <a:t>Alterar</a:t>
            </a:r>
            <a:r>
              <a:rPr lang="en-US" dirty="0">
                <a:ea typeface="Calibri"/>
                <a:cs typeface="Calibri"/>
              </a:rPr>
              <a:t> o </a:t>
            </a:r>
            <a:r>
              <a:rPr lang="en-US" dirty="0" err="1">
                <a:ea typeface="Calibri"/>
                <a:cs typeface="Calibri"/>
              </a:rPr>
              <a:t>nome</a:t>
            </a:r>
            <a:r>
              <a:rPr lang="en-US" dirty="0">
                <a:ea typeface="Calibri"/>
                <a:cs typeface="Calibri"/>
              </a:rPr>
              <a:t> do Notebook</a:t>
            </a:r>
          </a:p>
        </p:txBody>
      </p:sp>
      <p:sp>
        <p:nvSpPr>
          <p:cNvPr id="4" name="Espaço Reservado para Número de Slide 3"/>
          <p:cNvSpPr>
            <a:spLocks noGrp="1"/>
          </p:cNvSpPr>
          <p:nvPr>
            <p:ph type="sldNum" sz="quarter" idx="5"/>
          </p:nvPr>
        </p:nvSpPr>
        <p:spPr/>
        <p:txBody>
          <a:bodyPr/>
          <a:lstStyle/>
          <a:p>
            <a:fld id="{27C368A0-BE87-4DB1-9F97-6B9DFDAFAADD}" type="slidenum">
              <a:rPr lang="pt-BR"/>
              <a:t>20</a:t>
            </a:fld>
            <a:endParaRPr lang="pt-BR"/>
          </a:p>
        </p:txBody>
      </p:sp>
    </p:spTree>
    <p:extLst>
      <p:ext uri="{BB962C8B-B14F-4D97-AF65-F5344CB8AC3E}">
        <p14:creationId xmlns:p14="http://schemas.microsoft.com/office/powerpoint/2010/main" val="3335999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b="1"/>
              <a:t>NumPy</a:t>
            </a:r>
            <a:r>
              <a:rPr lang="en-US"/>
              <a:t> (Numerical Python) é </a:t>
            </a:r>
            <a:r>
              <a:rPr lang="en-US" err="1"/>
              <a:t>uma</a:t>
            </a:r>
            <a:r>
              <a:rPr lang="en-US"/>
              <a:t> </a:t>
            </a:r>
            <a:r>
              <a:rPr lang="en-US" err="1"/>
              <a:t>biblioteca</a:t>
            </a:r>
            <a:r>
              <a:rPr lang="en-US"/>
              <a:t> fundamental para </a:t>
            </a:r>
            <a:r>
              <a:rPr lang="en-US" err="1"/>
              <a:t>computação</a:t>
            </a:r>
            <a:r>
              <a:rPr lang="en-US"/>
              <a:t> </a:t>
            </a:r>
            <a:r>
              <a:rPr lang="en-US" err="1"/>
              <a:t>científica</a:t>
            </a:r>
            <a:r>
              <a:rPr lang="en-US"/>
              <a:t> </a:t>
            </a:r>
            <a:r>
              <a:rPr lang="en-US" err="1"/>
              <a:t>em</a:t>
            </a:r>
            <a:r>
              <a:rPr lang="en-US"/>
              <a:t> Python. Ela </a:t>
            </a:r>
            <a:r>
              <a:rPr lang="en-US" err="1"/>
              <a:t>fornece</a:t>
            </a:r>
            <a:r>
              <a:rPr lang="en-US"/>
              <a:t> </a:t>
            </a:r>
            <a:r>
              <a:rPr lang="en-US" err="1"/>
              <a:t>suporte</a:t>
            </a:r>
            <a:r>
              <a:rPr lang="en-US"/>
              <a:t> para:</a:t>
            </a:r>
            <a:endParaRPr lang="pt-BR"/>
          </a:p>
          <a:p>
            <a:pPr marL="285750" indent="-285750">
              <a:buFont typeface="Arial"/>
              <a:buChar char="•"/>
            </a:pPr>
            <a:r>
              <a:rPr lang="en-US" b="1"/>
              <a:t>Arrays e </a:t>
            </a:r>
            <a:r>
              <a:rPr lang="en-US" b="1" err="1"/>
              <a:t>Matrizes</a:t>
            </a:r>
            <a:r>
              <a:rPr lang="en-US" b="1"/>
              <a:t> </a:t>
            </a:r>
            <a:r>
              <a:rPr lang="en-US" b="1" err="1"/>
              <a:t>Multidimensionais</a:t>
            </a:r>
            <a:r>
              <a:rPr lang="en-US"/>
              <a:t>: </a:t>
            </a:r>
            <a:r>
              <a:rPr lang="en-US" err="1"/>
              <a:t>Estruturas</a:t>
            </a:r>
            <a:r>
              <a:rPr lang="en-US"/>
              <a:t> de dados </a:t>
            </a:r>
            <a:r>
              <a:rPr lang="en-US" err="1"/>
              <a:t>eficientes</a:t>
            </a:r>
            <a:r>
              <a:rPr lang="en-US"/>
              <a:t> para </a:t>
            </a:r>
            <a:r>
              <a:rPr lang="en-US" err="1"/>
              <a:t>armazenar</a:t>
            </a:r>
            <a:r>
              <a:rPr lang="en-US"/>
              <a:t> e manipular </a:t>
            </a:r>
            <a:r>
              <a:rPr lang="en-US" err="1"/>
              <a:t>grandes</a:t>
            </a:r>
            <a:r>
              <a:rPr lang="en-US"/>
              <a:t> conjuntos de dados </a:t>
            </a:r>
            <a:r>
              <a:rPr lang="en-US" err="1"/>
              <a:t>numéricos</a:t>
            </a:r>
            <a:r>
              <a:rPr lang="en-US"/>
              <a:t>.</a:t>
            </a:r>
            <a:endParaRPr lang="pt-BR"/>
          </a:p>
          <a:p>
            <a:pPr marL="285750" indent="-285750">
              <a:buFont typeface="Arial"/>
              <a:buChar char="•"/>
            </a:pPr>
            <a:r>
              <a:rPr lang="en-US" b="1" err="1"/>
              <a:t>Funções</a:t>
            </a:r>
            <a:r>
              <a:rPr lang="en-US" b="1"/>
              <a:t> </a:t>
            </a:r>
            <a:r>
              <a:rPr lang="en-US" b="1" err="1"/>
              <a:t>Matemáticas</a:t>
            </a:r>
            <a:r>
              <a:rPr lang="en-US"/>
              <a:t>: </a:t>
            </a:r>
            <a:r>
              <a:rPr lang="en-US" err="1"/>
              <a:t>Operações</a:t>
            </a:r>
            <a:r>
              <a:rPr lang="en-US"/>
              <a:t> e </a:t>
            </a:r>
            <a:r>
              <a:rPr lang="en-US" err="1"/>
              <a:t>funções</a:t>
            </a:r>
            <a:r>
              <a:rPr lang="en-US"/>
              <a:t> </a:t>
            </a:r>
            <a:r>
              <a:rPr lang="en-US" err="1"/>
              <a:t>matemáticas</a:t>
            </a:r>
            <a:r>
              <a:rPr lang="en-US"/>
              <a:t> de alto </a:t>
            </a:r>
            <a:r>
              <a:rPr lang="en-US" err="1"/>
              <a:t>desempenho</a:t>
            </a:r>
            <a:r>
              <a:rPr lang="en-US"/>
              <a:t>, </a:t>
            </a:r>
            <a:r>
              <a:rPr lang="en-US" err="1"/>
              <a:t>como</a:t>
            </a:r>
            <a:r>
              <a:rPr lang="en-US"/>
              <a:t> </a:t>
            </a:r>
            <a:r>
              <a:rPr lang="en-US" err="1"/>
              <a:t>álgebra</a:t>
            </a:r>
            <a:r>
              <a:rPr lang="en-US"/>
              <a:t> linear, </a:t>
            </a:r>
            <a:r>
              <a:rPr lang="en-US" err="1"/>
              <a:t>transformadas</a:t>
            </a:r>
            <a:r>
              <a:rPr lang="en-US"/>
              <a:t> de Fourier e </a:t>
            </a:r>
            <a:r>
              <a:rPr lang="en-US" err="1"/>
              <a:t>geração</a:t>
            </a:r>
            <a:r>
              <a:rPr lang="en-US"/>
              <a:t> de </a:t>
            </a:r>
            <a:r>
              <a:rPr lang="en-US" err="1"/>
              <a:t>números</a:t>
            </a:r>
            <a:r>
              <a:rPr lang="en-US"/>
              <a:t> </a:t>
            </a:r>
            <a:r>
              <a:rPr lang="en-US" err="1"/>
              <a:t>aleatórios</a:t>
            </a:r>
            <a:r>
              <a:rPr lang="en-US"/>
              <a:t>.</a:t>
            </a:r>
            <a:endParaRPr lang="pt-BR"/>
          </a:p>
          <a:p>
            <a:pPr marL="285750" indent="-285750">
              <a:buFont typeface="Arial"/>
              <a:buChar char="•"/>
            </a:pPr>
            <a:r>
              <a:rPr lang="en-US" b="1" err="1"/>
              <a:t>Integração</a:t>
            </a:r>
            <a:r>
              <a:rPr lang="en-US" b="1"/>
              <a:t> com </a:t>
            </a:r>
            <a:r>
              <a:rPr lang="en-US" b="1" err="1"/>
              <a:t>outras</a:t>
            </a:r>
            <a:r>
              <a:rPr lang="en-US" b="1"/>
              <a:t> </a:t>
            </a:r>
            <a:r>
              <a:rPr lang="en-US" b="1" err="1"/>
              <a:t>Bibliotecas</a:t>
            </a:r>
            <a:r>
              <a:rPr lang="en-US"/>
              <a:t>: É a base para </a:t>
            </a:r>
            <a:r>
              <a:rPr lang="en-US" err="1"/>
              <a:t>muitas</a:t>
            </a:r>
            <a:r>
              <a:rPr lang="en-US"/>
              <a:t> </a:t>
            </a:r>
            <a:r>
              <a:rPr lang="en-US" err="1"/>
              <a:t>outras</a:t>
            </a:r>
            <a:r>
              <a:rPr lang="en-US"/>
              <a:t> </a:t>
            </a:r>
            <a:r>
              <a:rPr lang="en-US" err="1"/>
              <a:t>bibliotecas</a:t>
            </a:r>
            <a:r>
              <a:rPr lang="en-US"/>
              <a:t> de </a:t>
            </a:r>
            <a:r>
              <a:rPr lang="en-US" err="1"/>
              <a:t>ciência</a:t>
            </a:r>
            <a:r>
              <a:rPr lang="en-US"/>
              <a:t> de dados e </a:t>
            </a:r>
            <a:r>
              <a:rPr lang="en-US" err="1"/>
              <a:t>aprendizado</a:t>
            </a:r>
            <a:r>
              <a:rPr lang="en-US"/>
              <a:t> de </a:t>
            </a:r>
            <a:r>
              <a:rPr lang="en-US" err="1"/>
              <a:t>máquina</a:t>
            </a:r>
            <a:r>
              <a:rPr lang="en-US"/>
              <a:t>, </a:t>
            </a:r>
            <a:r>
              <a:rPr lang="en-US" err="1"/>
              <a:t>como</a:t>
            </a:r>
            <a:r>
              <a:rPr lang="en-US"/>
              <a:t> SciPy, Pandas, e TensorFlow.</a:t>
            </a:r>
            <a:endParaRPr lang="pt-BR"/>
          </a:p>
          <a:p>
            <a:endParaRPr lang="en-US">
              <a:cs typeface="Calibri"/>
            </a:endParaRPr>
          </a:p>
        </p:txBody>
      </p:sp>
      <p:sp>
        <p:nvSpPr>
          <p:cNvPr id="4" name="Espaço Reservado para Número de Slide 3"/>
          <p:cNvSpPr>
            <a:spLocks noGrp="1"/>
          </p:cNvSpPr>
          <p:nvPr>
            <p:ph type="sldNum" sz="quarter" idx="5"/>
          </p:nvPr>
        </p:nvSpPr>
        <p:spPr/>
        <p:txBody>
          <a:bodyPr/>
          <a:lstStyle/>
          <a:p>
            <a:fld id="{27C368A0-BE87-4DB1-9F97-6B9DFDAFAADD}" type="slidenum">
              <a:t>22</a:t>
            </a:fld>
            <a:endParaRPr lang="pt-BR"/>
          </a:p>
        </p:txBody>
      </p:sp>
    </p:spTree>
    <p:extLst>
      <p:ext uri="{BB962C8B-B14F-4D97-AF65-F5344CB8AC3E}">
        <p14:creationId xmlns:p14="http://schemas.microsoft.com/office/powerpoint/2010/main" val="2261791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8/11/2026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46139182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8/11/2026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20626309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8/11/2026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9428253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8/11/2026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02252779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8/11/2026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106565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8/11/2026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977717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8/11/2026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939808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8/11/2026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1607011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8/11/2026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8636003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8/11/2026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31791970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8/11/2026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94976042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8/11/2026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17244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r4ds.had.co.nz/index.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rstudio.cloud/"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de-DE" sz="4000" dirty="0" err="1">
                <a:solidFill>
                  <a:srgbClr val="FF0000"/>
                </a:solidFill>
              </a:rPr>
              <a:t>Universidade</a:t>
            </a:r>
            <a:r>
              <a:rPr lang="de-DE" sz="4000" dirty="0">
                <a:solidFill>
                  <a:srgbClr val="FF0000"/>
                </a:solidFill>
              </a:rPr>
              <a:t> </a:t>
            </a:r>
            <a:r>
              <a:rPr lang="de-DE" sz="4000" dirty="0" err="1">
                <a:solidFill>
                  <a:srgbClr val="FF0000"/>
                </a:solidFill>
              </a:rPr>
              <a:t>presbiteriana</a:t>
            </a:r>
            <a:r>
              <a:rPr lang="de-DE" sz="4000" dirty="0">
                <a:solidFill>
                  <a:srgbClr val="FF0000"/>
                </a:solidFill>
              </a:rPr>
              <a:t> </a:t>
            </a:r>
            <a:r>
              <a:rPr lang="de-DE" sz="4000" dirty="0" err="1">
                <a:solidFill>
                  <a:srgbClr val="FF0000"/>
                </a:solidFill>
              </a:rPr>
              <a:t>mackenzie</a:t>
            </a:r>
            <a:br>
              <a:rPr lang="de-DE" dirty="0"/>
            </a:br>
            <a:br>
              <a:rPr lang="de-DE" dirty="0"/>
            </a:br>
            <a:r>
              <a:rPr lang="de-DE" dirty="0" err="1"/>
              <a:t>Análise</a:t>
            </a:r>
            <a:r>
              <a:rPr lang="de-DE" dirty="0"/>
              <a:t> de </a:t>
            </a:r>
            <a:r>
              <a:rPr lang="de-DE" dirty="0" err="1"/>
              <a:t>Dados</a:t>
            </a:r>
            <a:endParaRPr lang="de-DE" dirty="0"/>
          </a:p>
        </p:txBody>
      </p:sp>
      <p:pic>
        <p:nvPicPr>
          <p:cNvPr id="4" name="Imagem 3">
            <a:extLst>
              <a:ext uri="{FF2B5EF4-FFF2-40B4-BE49-F238E27FC236}">
                <a16:creationId xmlns:a16="http://schemas.microsoft.com/office/drawing/2014/main" id="{389D0008-3BBD-4A4E-A317-7A8215605B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06504" y="2121008"/>
            <a:ext cx="1671637" cy="1671637"/>
          </a:xfrm>
          <a:prstGeom prst="rect">
            <a:avLst/>
          </a:prstGeom>
        </p:spPr>
      </p:pic>
    </p:spTree>
    <p:extLst>
      <p:ext uri="{BB962C8B-B14F-4D97-AF65-F5344CB8AC3E}">
        <p14:creationId xmlns:p14="http://schemas.microsoft.com/office/powerpoint/2010/main" val="2210866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DCBF5C-669C-5DC7-7817-7A2FCD00DD4B}"/>
              </a:ext>
            </a:extLst>
          </p:cNvPr>
          <p:cNvSpPr>
            <a:spLocks noGrp="1"/>
          </p:cNvSpPr>
          <p:nvPr>
            <p:ph type="title"/>
          </p:nvPr>
        </p:nvSpPr>
        <p:spPr/>
        <p:txBody>
          <a:bodyPr/>
          <a:lstStyle/>
          <a:p>
            <a:r>
              <a:rPr lang="pt-BR"/>
              <a:t>Ementa</a:t>
            </a:r>
          </a:p>
        </p:txBody>
      </p:sp>
      <p:sp>
        <p:nvSpPr>
          <p:cNvPr id="3" name="Espaço Reservado para Conteúdo 2">
            <a:extLst>
              <a:ext uri="{FF2B5EF4-FFF2-40B4-BE49-F238E27FC236}">
                <a16:creationId xmlns:a16="http://schemas.microsoft.com/office/drawing/2014/main" id="{A2BB99F3-7A86-D8BA-0C10-C53CEEE889BC}"/>
              </a:ext>
            </a:extLst>
          </p:cNvPr>
          <p:cNvSpPr>
            <a:spLocks noGrp="1"/>
          </p:cNvSpPr>
          <p:nvPr>
            <p:ph idx="1"/>
          </p:nvPr>
        </p:nvSpPr>
        <p:spPr>
          <a:xfrm>
            <a:off x="700635" y="1716066"/>
            <a:ext cx="10691265" cy="4213148"/>
          </a:xfrm>
        </p:spPr>
        <p:txBody>
          <a:bodyPr vert="horz" lIns="91440" tIns="45720" rIns="91440" bIns="45720" rtlCol="0" anchor="t">
            <a:normAutofit/>
          </a:bodyPr>
          <a:lstStyle/>
          <a:p>
            <a:r>
              <a:rPr lang="pt-BR" dirty="0">
                <a:ea typeface="+mn-lt"/>
                <a:cs typeface="+mn-lt"/>
              </a:rPr>
              <a:t>Ementa: </a:t>
            </a:r>
            <a:endParaRPr lang="pt-BR" dirty="0"/>
          </a:p>
          <a:p>
            <a:pPr lvl="1" algn="just"/>
            <a:r>
              <a:rPr lang="pt-BR" sz="2000" b="1" dirty="0">
                <a:ea typeface="+mn-lt"/>
                <a:cs typeface="+mn-lt"/>
              </a:rPr>
              <a:t>Análise Exploratória de Dados</a:t>
            </a:r>
            <a:r>
              <a:rPr lang="pt-BR" sz="2000" dirty="0">
                <a:ea typeface="+mn-lt"/>
                <a:cs typeface="+mn-lt"/>
              </a:rPr>
              <a:t>: variáveis quantitativas categóricas; gráficos para variáveis quantitativas; gráficos para variáveis categóricas; medidas de posição; medidas de dispersão; curvas de densidade; distribuições normais; correlações entre variáveis; regressão; distribuições marginais. </a:t>
            </a:r>
            <a:r>
              <a:rPr lang="pt-BR" sz="2000" b="1" dirty="0" err="1">
                <a:ea typeface="+mn-lt"/>
                <a:cs typeface="+mn-lt"/>
              </a:rPr>
              <a:t>Inferência</a:t>
            </a:r>
            <a:r>
              <a:rPr lang="pt-BR" sz="2000" dirty="0">
                <a:ea typeface="+mn-lt"/>
                <a:cs typeface="+mn-lt"/>
              </a:rPr>
              <a:t>: populações e amostras; técnicas de obtenção de amostras aleatórias; probabilidade; distribuições amostrais; testes de hipótese; inferência sobre a média populacional; inferência sobre proporções populacionais; comparação de proporções. </a:t>
            </a:r>
            <a:endParaRPr lang="pt-BR" sz="2000" dirty="0"/>
          </a:p>
          <a:p>
            <a:pPr lvl="1"/>
            <a:r>
              <a:rPr lang="pt-BR" sz="2000" b="1" dirty="0">
                <a:ea typeface="+mn-lt"/>
                <a:cs typeface="+mn-lt"/>
              </a:rPr>
              <a:t>Prática</a:t>
            </a:r>
            <a:r>
              <a:rPr lang="pt-BR" sz="2000" dirty="0">
                <a:ea typeface="+mn-lt"/>
                <a:cs typeface="+mn-lt"/>
              </a:rPr>
              <a:t>: uso de módulos Python, </a:t>
            </a:r>
            <a:r>
              <a:rPr lang="pt-BR" sz="2000" dirty="0" err="1">
                <a:ea typeface="+mn-lt"/>
                <a:cs typeface="+mn-lt"/>
              </a:rPr>
              <a:t>R</a:t>
            </a:r>
            <a:r>
              <a:rPr lang="pt-BR" sz="2000" dirty="0">
                <a:ea typeface="+mn-lt"/>
                <a:cs typeface="+mn-lt"/>
              </a:rPr>
              <a:t> e/ou planilhas de cálculo para análise exploratória de dados e inferência. </a:t>
            </a:r>
            <a:endParaRPr lang="pt-BR" sz="2000" dirty="0"/>
          </a:p>
          <a:p>
            <a:endParaRPr lang="pt-BR" dirty="0"/>
          </a:p>
        </p:txBody>
      </p:sp>
    </p:spTree>
    <p:extLst>
      <p:ext uri="{BB962C8B-B14F-4D97-AF65-F5344CB8AC3E}">
        <p14:creationId xmlns:p14="http://schemas.microsoft.com/office/powerpoint/2010/main" val="122652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A05F53-265F-D95C-EA7A-27685A2DAF9D}"/>
              </a:ext>
            </a:extLst>
          </p:cNvPr>
          <p:cNvSpPr>
            <a:spLocks noGrp="1"/>
          </p:cNvSpPr>
          <p:nvPr>
            <p:ph type="title"/>
          </p:nvPr>
        </p:nvSpPr>
        <p:spPr/>
        <p:txBody>
          <a:bodyPr/>
          <a:lstStyle/>
          <a:p>
            <a:r>
              <a:rPr lang="pt-BR"/>
              <a:t>Critério de Avaliação</a:t>
            </a:r>
          </a:p>
        </p:txBody>
      </p:sp>
      <p:sp>
        <p:nvSpPr>
          <p:cNvPr id="3" name="Espaço Reservado para Conteúdo 2">
            <a:extLst>
              <a:ext uri="{FF2B5EF4-FFF2-40B4-BE49-F238E27FC236}">
                <a16:creationId xmlns:a16="http://schemas.microsoft.com/office/drawing/2014/main" id="{D34DA98F-F4DD-3D13-6E65-2F5C8521D861}"/>
              </a:ext>
            </a:extLst>
          </p:cNvPr>
          <p:cNvSpPr>
            <a:spLocks noGrp="1"/>
          </p:cNvSpPr>
          <p:nvPr>
            <p:ph idx="1"/>
          </p:nvPr>
        </p:nvSpPr>
        <p:spPr/>
        <p:txBody>
          <a:bodyPr vert="horz" lIns="91440" tIns="45720" rIns="91440" bIns="45720" rtlCol="0" anchor="t">
            <a:normAutofit/>
          </a:bodyPr>
          <a:lstStyle/>
          <a:p>
            <a:r>
              <a:rPr lang="pt-BR" sz="2400" dirty="0">
                <a:ea typeface="+mn-lt"/>
                <a:cs typeface="+mn-lt"/>
              </a:rPr>
              <a:t>Critério de Avaliação: </a:t>
            </a:r>
            <a:endParaRPr lang="pt-BR" sz="2400" dirty="0"/>
          </a:p>
          <a:p>
            <a:pPr lvl="1"/>
            <a:r>
              <a:rPr lang="pt-BR" sz="2200" b="1" dirty="0">
                <a:ea typeface="+mn-lt"/>
                <a:cs typeface="+mn-lt"/>
              </a:rPr>
              <a:t>N1 = 0,75 * P1 + 0,25 * ATIV1</a:t>
            </a:r>
            <a:endParaRPr lang="pt-BR" sz="2200" dirty="0">
              <a:ea typeface="+mn-lt"/>
              <a:cs typeface="+mn-lt"/>
            </a:endParaRPr>
          </a:p>
          <a:p>
            <a:pPr lvl="1"/>
            <a:r>
              <a:rPr lang="pt-BR" sz="2200" b="1" dirty="0">
                <a:ea typeface="+mn-lt"/>
                <a:cs typeface="+mn-lt"/>
              </a:rPr>
              <a:t>N2 = 0,75 * P2 + 0,25 * ATIV2 </a:t>
            </a:r>
            <a:endParaRPr lang="pt-BR" sz="2200" dirty="0">
              <a:ea typeface="+mn-lt"/>
              <a:cs typeface="+mn-lt"/>
            </a:endParaRPr>
          </a:p>
          <a:p>
            <a:pPr lvl="1"/>
            <a:r>
              <a:rPr lang="pt-BR" sz="2200" b="1" dirty="0">
                <a:ea typeface="+mn-lt"/>
                <a:cs typeface="+mn-lt"/>
              </a:rPr>
              <a:t>MI=(N1+N2)/2 +NP </a:t>
            </a:r>
            <a:endParaRPr lang="pt-BR" sz="2200" dirty="0"/>
          </a:p>
          <a:p>
            <a:pPr lvl="2" algn="just">
              <a:buFont typeface="Courier New" panose="020B0604020202020204" pitchFamily="34" charset="0"/>
              <a:buChar char="o"/>
            </a:pPr>
            <a:r>
              <a:rPr lang="pt-BR" sz="1400" b="1" dirty="0">
                <a:ea typeface="+mn-lt"/>
                <a:cs typeface="+mn-lt"/>
              </a:rPr>
              <a:t>ATIV1 </a:t>
            </a:r>
            <a:r>
              <a:rPr lang="pt-BR" sz="1400" dirty="0">
                <a:ea typeface="+mn-lt"/>
                <a:cs typeface="+mn-lt"/>
              </a:rPr>
              <a:t> é a </a:t>
            </a:r>
            <a:r>
              <a:rPr lang="pt-BR" sz="1400" dirty="0" err="1">
                <a:ea typeface="+mn-lt"/>
                <a:cs typeface="+mn-lt"/>
              </a:rPr>
              <a:t>média</a:t>
            </a:r>
            <a:r>
              <a:rPr lang="pt-BR" sz="1400" dirty="0">
                <a:ea typeface="+mn-lt"/>
                <a:cs typeface="+mn-lt"/>
              </a:rPr>
              <a:t> aritmética simples obtida a partir das atividades teóricas ou computacionais realizadas ao longo da disciplina, individualmente ou em pequenos grupos; </a:t>
            </a:r>
            <a:endParaRPr lang="pt-BR" sz="1400" dirty="0"/>
          </a:p>
          <a:p>
            <a:pPr lvl="2" algn="just">
              <a:buFont typeface="Courier New" panose="020B0604020202020204" pitchFamily="34" charset="0"/>
              <a:buChar char="o"/>
            </a:pPr>
            <a:r>
              <a:rPr lang="pt-BR" sz="1400" b="1" dirty="0">
                <a:ea typeface="+mn-lt"/>
                <a:cs typeface="+mn-lt"/>
              </a:rPr>
              <a:t>ATIV2 é</a:t>
            </a:r>
            <a:r>
              <a:rPr lang="pt-BR" sz="1400" dirty="0">
                <a:ea typeface="+mn-lt"/>
                <a:cs typeface="+mn-lt"/>
              </a:rPr>
              <a:t> a média aritmética simples obtida a partir das atividades teóricas ou computacionais realizadas em sala de aula ao longo da disciplina, individualmente ou em pequenos grupos; </a:t>
            </a:r>
          </a:p>
          <a:p>
            <a:pPr lvl="1">
              <a:buFont typeface="Courier New" panose="020B0604020202020204" pitchFamily="34" charset="0"/>
              <a:buChar char="o"/>
            </a:pPr>
            <a:endParaRPr lang="pt-BR" sz="1600" dirty="0"/>
          </a:p>
          <a:p>
            <a:endParaRPr lang="pt-BR" sz="2400" b="1" dirty="0"/>
          </a:p>
          <a:p>
            <a:endParaRPr lang="pt-BR" dirty="0"/>
          </a:p>
        </p:txBody>
      </p:sp>
    </p:spTree>
    <p:extLst>
      <p:ext uri="{BB962C8B-B14F-4D97-AF65-F5344CB8AC3E}">
        <p14:creationId xmlns:p14="http://schemas.microsoft.com/office/powerpoint/2010/main" val="6248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8E89E-6F53-323A-0561-D25C54EEB5A7}"/>
              </a:ext>
            </a:extLst>
          </p:cNvPr>
          <p:cNvSpPr>
            <a:spLocks noGrp="1"/>
          </p:cNvSpPr>
          <p:nvPr>
            <p:ph type="title"/>
          </p:nvPr>
        </p:nvSpPr>
        <p:spPr>
          <a:xfrm>
            <a:off x="700635" y="766096"/>
            <a:ext cx="10691265" cy="1371030"/>
          </a:xfrm>
        </p:spPr>
        <p:txBody>
          <a:bodyPr/>
          <a:lstStyle/>
          <a:p>
            <a:r>
              <a:rPr lang="pt-BR"/>
              <a:t>Bibliografia</a:t>
            </a:r>
          </a:p>
        </p:txBody>
      </p:sp>
      <p:sp>
        <p:nvSpPr>
          <p:cNvPr id="3" name="Espaço Reservado para Conteúdo 2">
            <a:extLst>
              <a:ext uri="{FF2B5EF4-FFF2-40B4-BE49-F238E27FC236}">
                <a16:creationId xmlns:a16="http://schemas.microsoft.com/office/drawing/2014/main" id="{CABA2476-2104-63B8-2AF0-533235973FAF}"/>
              </a:ext>
            </a:extLst>
          </p:cNvPr>
          <p:cNvSpPr>
            <a:spLocks noGrp="1"/>
          </p:cNvSpPr>
          <p:nvPr>
            <p:ph idx="1"/>
          </p:nvPr>
        </p:nvSpPr>
        <p:spPr>
          <a:xfrm>
            <a:off x="700635" y="1447126"/>
            <a:ext cx="10691265" cy="4992088"/>
          </a:xfrm>
        </p:spPr>
        <p:txBody>
          <a:bodyPr vert="horz" lIns="91440" tIns="45720" rIns="91440" bIns="45720" rtlCol="0" anchor="t">
            <a:normAutofit fontScale="85000" lnSpcReduction="10000"/>
          </a:bodyPr>
          <a:lstStyle/>
          <a:p>
            <a:pPr marL="0" indent="0">
              <a:buNone/>
            </a:pPr>
            <a:r>
              <a:rPr lang="pt-BR" sz="2000" dirty="0">
                <a:ea typeface="+mn-lt"/>
                <a:cs typeface="+mn-lt"/>
              </a:rPr>
              <a:t>Bibliografia Básica: </a:t>
            </a:r>
            <a:endParaRPr lang="pt-BR" sz="2000" dirty="0"/>
          </a:p>
          <a:p>
            <a:r>
              <a:rPr lang="pt-BR" sz="2000" dirty="0">
                <a:ea typeface="+mn-lt"/>
                <a:cs typeface="+mn-lt"/>
              </a:rPr>
              <a:t> LARSON, Ron; FARBER, Betsy</a:t>
            </a:r>
            <a:r>
              <a:rPr lang="pt-BR" sz="2000" b="1" dirty="0">
                <a:ea typeface="+mn-lt"/>
                <a:cs typeface="+mn-lt"/>
              </a:rPr>
              <a:t>. Estatística Aplicada</a:t>
            </a:r>
            <a:r>
              <a:rPr lang="pt-BR" sz="2000" dirty="0">
                <a:ea typeface="+mn-lt"/>
                <a:cs typeface="+mn-lt"/>
              </a:rPr>
              <a:t>. 6 ed. São Paulo: Pearson Prentice- Hall 2015. </a:t>
            </a:r>
          </a:p>
          <a:p>
            <a:r>
              <a:rPr lang="pt-BR" sz="2000" dirty="0">
                <a:ea typeface="+mn-lt"/>
                <a:cs typeface="+mn-lt"/>
              </a:rPr>
              <a:t>MOORE, David S.; NOTZ, William I.; FLINGER, Michael A. </a:t>
            </a:r>
            <a:r>
              <a:rPr lang="pt-BR" sz="2000" b="1" dirty="0">
                <a:ea typeface="+mn-lt"/>
                <a:cs typeface="+mn-lt"/>
              </a:rPr>
              <a:t>A Estatística Básica e sua Prática</a:t>
            </a:r>
            <a:r>
              <a:rPr lang="pt-BR" sz="2000" dirty="0">
                <a:ea typeface="+mn-lt"/>
                <a:cs typeface="+mn-lt"/>
              </a:rPr>
              <a:t>. 7 ed. Rio de Janeiro: LTC, 2017. </a:t>
            </a:r>
          </a:p>
          <a:p>
            <a:r>
              <a:rPr lang="pt-BR" sz="2000" dirty="0">
                <a:ea typeface="+mn-lt"/>
                <a:cs typeface="+mn-lt"/>
              </a:rPr>
              <a:t>PHUONG, Vo. T.H.; CZYGAN, Martin. </a:t>
            </a:r>
            <a:r>
              <a:rPr lang="pt-BR" sz="2000" b="1" dirty="0" err="1">
                <a:ea typeface="+mn-lt"/>
                <a:cs typeface="+mn-lt"/>
              </a:rPr>
              <a:t>Getting</a:t>
            </a:r>
            <a:r>
              <a:rPr lang="pt-BR" sz="2000" b="1" dirty="0">
                <a:ea typeface="+mn-lt"/>
                <a:cs typeface="+mn-lt"/>
              </a:rPr>
              <a:t> </a:t>
            </a:r>
            <a:r>
              <a:rPr lang="pt-BR" sz="2000" b="1" dirty="0" err="1">
                <a:ea typeface="+mn-lt"/>
                <a:cs typeface="+mn-lt"/>
              </a:rPr>
              <a:t>Started</a:t>
            </a:r>
            <a:r>
              <a:rPr lang="pt-BR" sz="2000" b="1" dirty="0">
                <a:ea typeface="+mn-lt"/>
                <a:cs typeface="+mn-lt"/>
              </a:rPr>
              <a:t> </a:t>
            </a:r>
            <a:r>
              <a:rPr lang="pt-BR" sz="2000" b="1" dirty="0" err="1">
                <a:ea typeface="+mn-lt"/>
                <a:cs typeface="+mn-lt"/>
              </a:rPr>
              <a:t>with</a:t>
            </a:r>
            <a:r>
              <a:rPr lang="pt-BR" sz="2000" b="1" dirty="0">
                <a:ea typeface="+mn-lt"/>
                <a:cs typeface="+mn-lt"/>
              </a:rPr>
              <a:t> Python Data </a:t>
            </a:r>
            <a:r>
              <a:rPr lang="pt-BR" sz="2000" b="1" dirty="0" err="1">
                <a:ea typeface="+mn-lt"/>
                <a:cs typeface="+mn-lt"/>
              </a:rPr>
              <a:t>Analysis</a:t>
            </a:r>
            <a:r>
              <a:rPr lang="pt-BR" sz="2000" dirty="0">
                <a:ea typeface="+mn-lt"/>
                <a:cs typeface="+mn-lt"/>
              </a:rPr>
              <a:t>. Birmingham: </a:t>
            </a:r>
            <a:r>
              <a:rPr lang="pt-BR" sz="2000" dirty="0" err="1">
                <a:ea typeface="+mn-lt"/>
                <a:cs typeface="+mn-lt"/>
              </a:rPr>
              <a:t>Packt</a:t>
            </a:r>
            <a:r>
              <a:rPr lang="pt-BR" sz="2000" dirty="0">
                <a:ea typeface="+mn-lt"/>
                <a:cs typeface="+mn-lt"/>
              </a:rPr>
              <a:t> </a:t>
            </a:r>
            <a:r>
              <a:rPr lang="pt-BR" sz="2000" dirty="0" err="1">
                <a:ea typeface="+mn-lt"/>
                <a:cs typeface="+mn-lt"/>
              </a:rPr>
              <a:t>Publishing</a:t>
            </a:r>
            <a:r>
              <a:rPr lang="pt-BR" sz="2000" dirty="0">
                <a:ea typeface="+mn-lt"/>
                <a:cs typeface="+mn-lt"/>
              </a:rPr>
              <a:t>, 2015. </a:t>
            </a:r>
            <a:endParaRPr lang="pt-BR" sz="2000" dirty="0"/>
          </a:p>
          <a:p>
            <a:pPr marL="0" indent="0">
              <a:buNone/>
            </a:pPr>
            <a:r>
              <a:rPr lang="pt-BR" sz="2000" dirty="0">
                <a:ea typeface="+mn-lt"/>
                <a:cs typeface="+mn-lt"/>
              </a:rPr>
              <a:t>Bibliografia Complementar: </a:t>
            </a:r>
          </a:p>
          <a:p>
            <a:r>
              <a:rPr lang="pt-BR" sz="2000" dirty="0">
                <a:ea typeface="+mn-lt"/>
                <a:cs typeface="+mn-lt"/>
              </a:rPr>
              <a:t>LEVIN, Jack FOX, James Alan. Estatística para </a:t>
            </a:r>
            <a:r>
              <a:rPr lang="pt-BR" sz="2000" dirty="0" err="1">
                <a:ea typeface="+mn-lt"/>
                <a:cs typeface="+mn-lt"/>
              </a:rPr>
              <a:t>Ciências</a:t>
            </a:r>
            <a:r>
              <a:rPr lang="pt-BR" sz="2000" dirty="0">
                <a:ea typeface="+mn-lt"/>
                <a:cs typeface="+mn-lt"/>
              </a:rPr>
              <a:t> Humanas. 9 ed. São Paulo: Prentice Hall, 2004. </a:t>
            </a:r>
          </a:p>
          <a:p>
            <a:r>
              <a:rPr lang="pt-BR" sz="2000" dirty="0">
                <a:ea typeface="+mn-lt"/>
                <a:cs typeface="+mn-lt"/>
              </a:rPr>
              <a:t>MORETTIN, Pedro A. Estatística básica: probabilidade e inferência. </a:t>
            </a:r>
            <a:r>
              <a:rPr lang="pt-BR" dirty="0">
                <a:ea typeface="+mn-lt"/>
                <a:cs typeface="+mn-lt"/>
              </a:rPr>
              <a:t>São</a:t>
            </a:r>
            <a:r>
              <a:rPr lang="pt-BR" sz="2000" dirty="0">
                <a:ea typeface="+mn-lt"/>
                <a:cs typeface="+mn-lt"/>
              </a:rPr>
              <a:t> Paulo: Saraiva, 2010. </a:t>
            </a:r>
          </a:p>
          <a:p>
            <a:r>
              <a:rPr lang="pt-BR" sz="2000" dirty="0">
                <a:ea typeface="+mn-lt"/>
                <a:cs typeface="+mn-lt"/>
              </a:rPr>
              <a:t>OLIVEIRA, Francisco Estevam Martins de. Estatística e Probabilidade. 3 ed. Grupo A. 2010. </a:t>
            </a:r>
          </a:p>
          <a:p>
            <a:r>
              <a:rPr lang="pt-BR" sz="2000" dirty="0">
                <a:ea typeface="+mn-lt"/>
                <a:cs typeface="+mn-lt"/>
              </a:rPr>
              <a:t> VANDERPLAS, </a:t>
            </a:r>
            <a:r>
              <a:rPr lang="pt-BR" sz="2000" dirty="0" err="1">
                <a:ea typeface="+mn-lt"/>
                <a:cs typeface="+mn-lt"/>
              </a:rPr>
              <a:t>Jake</a:t>
            </a:r>
            <a:r>
              <a:rPr lang="pt-BR" sz="2000" dirty="0">
                <a:ea typeface="+mn-lt"/>
                <a:cs typeface="+mn-lt"/>
              </a:rPr>
              <a:t>. Python Data Science </a:t>
            </a:r>
            <a:r>
              <a:rPr lang="pt-BR" sz="2000" dirty="0" err="1">
                <a:ea typeface="+mn-lt"/>
                <a:cs typeface="+mn-lt"/>
              </a:rPr>
              <a:t>Handbook</a:t>
            </a:r>
            <a:r>
              <a:rPr lang="pt-BR" sz="2000" dirty="0">
                <a:ea typeface="+mn-lt"/>
                <a:cs typeface="+mn-lt"/>
              </a:rPr>
              <a:t>. </a:t>
            </a:r>
            <a:r>
              <a:rPr lang="pt-BR" sz="2000" dirty="0" err="1">
                <a:ea typeface="+mn-lt"/>
                <a:cs typeface="+mn-lt"/>
              </a:rPr>
              <a:t>Sebastopol</a:t>
            </a:r>
            <a:r>
              <a:rPr lang="pt-BR" sz="2000" dirty="0">
                <a:ea typeface="+mn-lt"/>
                <a:cs typeface="+mn-lt"/>
              </a:rPr>
              <a:t>: </a:t>
            </a:r>
            <a:r>
              <a:rPr lang="pt-BR" sz="2000" dirty="0" err="1">
                <a:ea typeface="+mn-lt"/>
                <a:cs typeface="+mn-lt"/>
              </a:rPr>
              <a:t>O'Reilly</a:t>
            </a:r>
            <a:r>
              <a:rPr lang="pt-BR" sz="2000" dirty="0">
                <a:ea typeface="+mn-lt"/>
                <a:cs typeface="+mn-lt"/>
              </a:rPr>
              <a:t>, 2017. </a:t>
            </a:r>
          </a:p>
          <a:p>
            <a:r>
              <a:rPr lang="pt-BR" sz="2000" dirty="0">
                <a:ea typeface="+mn-lt"/>
                <a:cs typeface="+mn-lt"/>
              </a:rPr>
              <a:t>WICKHAM, </a:t>
            </a:r>
            <a:r>
              <a:rPr lang="pt-BR" sz="2000" dirty="0" err="1">
                <a:ea typeface="+mn-lt"/>
                <a:cs typeface="+mn-lt"/>
              </a:rPr>
              <a:t>Hadley</a:t>
            </a:r>
            <a:r>
              <a:rPr lang="pt-BR" sz="2000" dirty="0">
                <a:ea typeface="+mn-lt"/>
                <a:cs typeface="+mn-lt"/>
              </a:rPr>
              <a:t>; GROLEMUND, Garret. </a:t>
            </a:r>
            <a:r>
              <a:rPr lang="pt-BR" sz="2000" dirty="0" err="1">
                <a:ea typeface="+mn-lt"/>
                <a:cs typeface="+mn-lt"/>
              </a:rPr>
              <a:t>R</a:t>
            </a:r>
            <a:r>
              <a:rPr lang="pt-BR" sz="2000" dirty="0">
                <a:ea typeface="+mn-lt"/>
                <a:cs typeface="+mn-lt"/>
              </a:rPr>
              <a:t> for Data Science. </a:t>
            </a:r>
            <a:r>
              <a:rPr lang="pt-BR" sz="2000" dirty="0" err="1">
                <a:ea typeface="+mn-lt"/>
                <a:cs typeface="+mn-lt"/>
              </a:rPr>
              <a:t>Sebastopol</a:t>
            </a:r>
            <a:r>
              <a:rPr lang="pt-BR" sz="2000" dirty="0">
                <a:ea typeface="+mn-lt"/>
                <a:cs typeface="+mn-lt"/>
              </a:rPr>
              <a:t>: </a:t>
            </a:r>
            <a:r>
              <a:rPr lang="pt-BR" sz="2000" dirty="0" err="1">
                <a:ea typeface="+mn-lt"/>
                <a:cs typeface="+mn-lt"/>
              </a:rPr>
              <a:t>O'Reilly</a:t>
            </a:r>
            <a:r>
              <a:rPr lang="pt-BR" sz="2000" dirty="0">
                <a:ea typeface="+mn-lt"/>
                <a:cs typeface="+mn-lt"/>
              </a:rPr>
              <a:t>, 2017. Disponível em: </a:t>
            </a:r>
            <a:r>
              <a:rPr lang="pt-BR" sz="2000" dirty="0">
                <a:ea typeface="+mn-lt"/>
                <a:cs typeface="+mn-lt"/>
                <a:hlinkClick r:id="rId2">
                  <a:extLst>
                    <a:ext uri="{A12FA001-AC4F-418D-AE19-62706E023703}">
                      <ahyp:hlinkClr xmlns:ahyp="http://schemas.microsoft.com/office/drawing/2018/hyperlinkcolor" val="tx"/>
                    </a:ext>
                  </a:extLst>
                </a:hlinkClick>
              </a:rPr>
              <a:t>https://r4ds.had.co.nz/index.html</a:t>
            </a:r>
            <a:r>
              <a:rPr lang="pt-BR" sz="2000" dirty="0">
                <a:ea typeface="+mn-lt"/>
                <a:cs typeface="+mn-lt"/>
              </a:rPr>
              <a:t> . </a:t>
            </a:r>
          </a:p>
          <a:p>
            <a:endParaRPr lang="pt-BR" sz="1600" dirty="0"/>
          </a:p>
          <a:p>
            <a:endParaRPr lang="pt-BR" dirty="0"/>
          </a:p>
        </p:txBody>
      </p:sp>
    </p:spTree>
    <p:extLst>
      <p:ext uri="{BB962C8B-B14F-4D97-AF65-F5344CB8AC3E}">
        <p14:creationId xmlns:p14="http://schemas.microsoft.com/office/powerpoint/2010/main" val="3020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4395B6-EC08-B747-94D3-F6ECA212D49D}"/>
              </a:ext>
            </a:extLst>
          </p:cNvPr>
          <p:cNvSpPr>
            <a:spLocks noGrp="1"/>
          </p:cNvSpPr>
          <p:nvPr>
            <p:ph type="title"/>
          </p:nvPr>
        </p:nvSpPr>
        <p:spPr/>
        <p:txBody>
          <a:bodyPr/>
          <a:lstStyle/>
          <a:p>
            <a:r>
              <a:rPr lang="pt-BR" dirty="0"/>
              <a:t>Objetivos do curso</a:t>
            </a:r>
          </a:p>
        </p:txBody>
      </p:sp>
      <p:sp>
        <p:nvSpPr>
          <p:cNvPr id="3" name="Espaço Reservado para Conteúdo 2">
            <a:extLst>
              <a:ext uri="{FF2B5EF4-FFF2-40B4-BE49-F238E27FC236}">
                <a16:creationId xmlns:a16="http://schemas.microsoft.com/office/drawing/2014/main" id="{921EDC6C-986B-824B-8DF7-AE58B30203DF}"/>
              </a:ext>
            </a:extLst>
          </p:cNvPr>
          <p:cNvSpPr>
            <a:spLocks noGrp="1"/>
          </p:cNvSpPr>
          <p:nvPr>
            <p:ph idx="1"/>
          </p:nvPr>
        </p:nvSpPr>
        <p:spPr/>
        <p:txBody>
          <a:bodyPr/>
          <a:lstStyle/>
          <a:p>
            <a:pPr marL="685800">
              <a:spcBef>
                <a:spcPts val="500"/>
              </a:spcBef>
            </a:pPr>
            <a:r>
              <a:rPr lang="pt-BR" dirty="0">
                <a:ea typeface="+mn-lt"/>
                <a:cs typeface="+mn-lt"/>
              </a:rPr>
              <a:t>Desenvolver habilidades em Análise Exploratória de Dados (AED) e Inferência Estatística utilizando Python e R.</a:t>
            </a:r>
          </a:p>
          <a:p>
            <a:pPr marL="685800">
              <a:spcBef>
                <a:spcPts val="500"/>
              </a:spcBef>
            </a:pPr>
            <a:r>
              <a:rPr lang="pt-BR" dirty="0">
                <a:ea typeface="+mn-lt"/>
                <a:cs typeface="+mn-lt"/>
              </a:rPr>
              <a:t>Capacitar os alunos para identificar padrões, tendências e relações nos dados, bem como realizar inferências estatísticas robustas.</a:t>
            </a:r>
          </a:p>
          <a:p>
            <a:pPr marL="685800">
              <a:spcBef>
                <a:spcPts val="500"/>
              </a:spcBef>
            </a:pPr>
            <a:r>
              <a:rPr lang="pt-BR" dirty="0">
                <a:ea typeface="+mn-lt"/>
                <a:cs typeface="+mn-lt"/>
              </a:rPr>
              <a:t>Ilustrar a aplicação das técnicas a conjunto de dados reais, utilizando-se os principais pacotes estatísticos e computacionais.</a:t>
            </a:r>
          </a:p>
          <a:p>
            <a:pPr marL="685800">
              <a:spcBef>
                <a:spcPts val="500"/>
              </a:spcBef>
            </a:pPr>
            <a:r>
              <a:rPr lang="pt-BR" dirty="0">
                <a:ea typeface="+mn-lt"/>
                <a:cs typeface="+mn-lt"/>
              </a:rPr>
              <a:t>Qual seria a melhor linguagem, o melhor software?</a:t>
            </a:r>
          </a:p>
          <a:p>
            <a:endParaRPr lang="pt-BR" dirty="0"/>
          </a:p>
        </p:txBody>
      </p:sp>
      <p:sp>
        <p:nvSpPr>
          <p:cNvPr id="4" name="Espaço Reservado para Data 3">
            <a:extLst>
              <a:ext uri="{FF2B5EF4-FFF2-40B4-BE49-F238E27FC236}">
                <a16:creationId xmlns:a16="http://schemas.microsoft.com/office/drawing/2014/main" id="{C5EB6071-EB75-7D48-B456-D7B4BC2166BA}"/>
              </a:ext>
            </a:extLst>
          </p:cNvPr>
          <p:cNvSpPr>
            <a:spLocks noGrp="1"/>
          </p:cNvSpPr>
          <p:nvPr>
            <p:ph type="dt" sz="half" idx="10"/>
          </p:nvPr>
        </p:nvSpPr>
        <p:spPr/>
        <p:txBody>
          <a:bodyPr/>
          <a:lstStyle/>
          <a:p>
            <a:fld id="{FD9461F7-9800-784B-80F5-19790F8FF3B3}" type="datetime1">
              <a:rPr lang="en-US" smtClean="0"/>
              <a:t>8/11/2026</a:t>
            </a:fld>
            <a:endParaRPr lang="en-US"/>
          </a:p>
        </p:txBody>
      </p:sp>
      <p:sp>
        <p:nvSpPr>
          <p:cNvPr id="5" name="Espaço Reservado para Rodapé 4">
            <a:extLst>
              <a:ext uri="{FF2B5EF4-FFF2-40B4-BE49-F238E27FC236}">
                <a16:creationId xmlns:a16="http://schemas.microsoft.com/office/drawing/2014/main" id="{E399516F-B237-634C-A734-63BBE72DE95C}"/>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D4DF2CFE-4A3B-F94A-BB54-EA2F15D7AA69}"/>
              </a:ext>
            </a:extLst>
          </p:cNvPr>
          <p:cNvSpPr>
            <a:spLocks noGrp="1"/>
          </p:cNvSpPr>
          <p:nvPr>
            <p:ph type="sldNum" sz="quarter" idx="12"/>
          </p:nvPr>
        </p:nvSpPr>
        <p:spPr/>
        <p:txBody>
          <a:bodyPr/>
          <a:lstStyle/>
          <a:p>
            <a:fld id="{E30AF5A0-43BB-4336-8627-9123B9144D80}" type="slidenum">
              <a:rPr lang="en-US" smtClean="0"/>
              <a:t>5</a:t>
            </a:fld>
            <a:endParaRPr lang="en-US"/>
          </a:p>
        </p:txBody>
      </p:sp>
    </p:spTree>
    <p:extLst>
      <p:ext uri="{BB962C8B-B14F-4D97-AF65-F5344CB8AC3E}">
        <p14:creationId xmlns:p14="http://schemas.microsoft.com/office/powerpoint/2010/main" val="3422179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9BB470-1AD0-6341-BC64-724055D6FE5B}"/>
              </a:ext>
            </a:extLst>
          </p:cNvPr>
          <p:cNvSpPr>
            <a:spLocks noGrp="1"/>
          </p:cNvSpPr>
          <p:nvPr>
            <p:ph type="title"/>
          </p:nvPr>
        </p:nvSpPr>
        <p:spPr/>
        <p:txBody>
          <a:bodyPr/>
          <a:lstStyle/>
          <a:p>
            <a:r>
              <a:rPr lang="pt-BR" dirty="0"/>
              <a:t>análise</a:t>
            </a:r>
          </a:p>
        </p:txBody>
      </p:sp>
      <p:sp>
        <p:nvSpPr>
          <p:cNvPr id="4" name="Espaço Reservado para Data 3">
            <a:extLst>
              <a:ext uri="{FF2B5EF4-FFF2-40B4-BE49-F238E27FC236}">
                <a16:creationId xmlns:a16="http://schemas.microsoft.com/office/drawing/2014/main" id="{9204D93C-6B7F-C748-9774-DD373C04855A}"/>
              </a:ext>
            </a:extLst>
          </p:cNvPr>
          <p:cNvSpPr>
            <a:spLocks noGrp="1"/>
          </p:cNvSpPr>
          <p:nvPr>
            <p:ph type="dt" sz="half" idx="10"/>
          </p:nvPr>
        </p:nvSpPr>
        <p:spPr/>
        <p:txBody>
          <a:bodyPr/>
          <a:lstStyle/>
          <a:p>
            <a:fld id="{95D2EDC0-4D8A-1D45-8D35-3A3A801E6009}" type="datetime1">
              <a:rPr lang="en-US" smtClean="0"/>
              <a:t>8/11/2026</a:t>
            </a:fld>
            <a:endParaRPr lang="en-US"/>
          </a:p>
        </p:txBody>
      </p:sp>
      <p:sp>
        <p:nvSpPr>
          <p:cNvPr id="5" name="Espaço Reservado para Rodapé 4">
            <a:extLst>
              <a:ext uri="{FF2B5EF4-FFF2-40B4-BE49-F238E27FC236}">
                <a16:creationId xmlns:a16="http://schemas.microsoft.com/office/drawing/2014/main" id="{3C0E2875-504B-7A48-96D7-3A9DD52D97DB}"/>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C15F8787-33EC-274F-9DFE-168310FE3198}"/>
              </a:ext>
            </a:extLst>
          </p:cNvPr>
          <p:cNvSpPr>
            <a:spLocks noGrp="1"/>
          </p:cNvSpPr>
          <p:nvPr>
            <p:ph type="sldNum" sz="quarter" idx="12"/>
          </p:nvPr>
        </p:nvSpPr>
        <p:spPr/>
        <p:txBody>
          <a:bodyPr/>
          <a:lstStyle/>
          <a:p>
            <a:fld id="{E30AF5A0-43BB-4336-8627-9123B9144D80}" type="slidenum">
              <a:rPr lang="en-US" smtClean="0"/>
              <a:t>6</a:t>
            </a:fld>
            <a:endParaRPr lang="en-US"/>
          </a:p>
        </p:txBody>
      </p:sp>
      <p:pic>
        <p:nvPicPr>
          <p:cNvPr id="7" name="Imagem 6">
            <a:extLst>
              <a:ext uri="{FF2B5EF4-FFF2-40B4-BE49-F238E27FC236}">
                <a16:creationId xmlns:a16="http://schemas.microsoft.com/office/drawing/2014/main" id="{03777B9E-AD52-404C-A7D3-5B42D5B5B5B8}"/>
              </a:ext>
            </a:extLst>
          </p:cNvPr>
          <p:cNvPicPr>
            <a:picLocks noChangeAspect="1"/>
          </p:cNvPicPr>
          <p:nvPr/>
        </p:nvPicPr>
        <p:blipFill>
          <a:blip r:embed="rId3"/>
          <a:stretch>
            <a:fillRect/>
          </a:stretch>
        </p:blipFill>
        <p:spPr>
          <a:xfrm>
            <a:off x="2943581" y="2730842"/>
            <a:ext cx="6736014" cy="3035000"/>
          </a:xfrm>
          <a:prstGeom prst="rect">
            <a:avLst/>
          </a:prstGeom>
        </p:spPr>
      </p:pic>
      <p:sp>
        <p:nvSpPr>
          <p:cNvPr id="8" name="Espaço Reservado para Conteúdo 2">
            <a:extLst>
              <a:ext uri="{FF2B5EF4-FFF2-40B4-BE49-F238E27FC236}">
                <a16:creationId xmlns:a16="http://schemas.microsoft.com/office/drawing/2014/main" id="{CF6B6B22-9F4E-AC43-962C-4237E9E9CAE7}"/>
              </a:ext>
            </a:extLst>
          </p:cNvPr>
          <p:cNvSpPr>
            <a:spLocks noGrp="1"/>
          </p:cNvSpPr>
          <p:nvPr>
            <p:ph idx="1"/>
          </p:nvPr>
        </p:nvSpPr>
        <p:spPr>
          <a:xfrm>
            <a:off x="700635" y="1971850"/>
            <a:ext cx="10691265" cy="3636088"/>
          </a:xfrm>
        </p:spPr>
        <p:txBody>
          <a:bodyPr/>
          <a:lstStyle/>
          <a:p>
            <a:r>
              <a:rPr lang="pt-BR" dirty="0"/>
              <a:t>Para análises estatísticas consideramos uma amostra de uma população.</a:t>
            </a:r>
          </a:p>
        </p:txBody>
      </p:sp>
    </p:spTree>
    <p:extLst>
      <p:ext uri="{BB962C8B-B14F-4D97-AF65-F5344CB8AC3E}">
        <p14:creationId xmlns:p14="http://schemas.microsoft.com/office/powerpoint/2010/main" val="524879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C419A-7333-C34B-9285-628E67010818}"/>
              </a:ext>
            </a:extLst>
          </p:cNvPr>
          <p:cNvSpPr>
            <a:spLocks noGrp="1"/>
          </p:cNvSpPr>
          <p:nvPr>
            <p:ph type="title"/>
          </p:nvPr>
        </p:nvSpPr>
        <p:spPr/>
        <p:txBody>
          <a:bodyPr/>
          <a:lstStyle/>
          <a:p>
            <a:r>
              <a:rPr lang="pt-BR" dirty="0"/>
              <a:t>Quais são as análises?</a:t>
            </a:r>
          </a:p>
        </p:txBody>
      </p:sp>
      <p:sp>
        <p:nvSpPr>
          <p:cNvPr id="3" name="Espaço Reservado para Conteúdo 2">
            <a:extLst>
              <a:ext uri="{FF2B5EF4-FFF2-40B4-BE49-F238E27FC236}">
                <a16:creationId xmlns:a16="http://schemas.microsoft.com/office/drawing/2014/main" id="{F6CF39EE-725E-3F47-AAB5-C72279C3A2DF}"/>
              </a:ext>
            </a:extLst>
          </p:cNvPr>
          <p:cNvSpPr>
            <a:spLocks noGrp="1"/>
          </p:cNvSpPr>
          <p:nvPr>
            <p:ph idx="1"/>
          </p:nvPr>
        </p:nvSpPr>
        <p:spPr/>
        <p:txBody>
          <a:bodyPr>
            <a:normAutofit lnSpcReduction="10000"/>
          </a:bodyPr>
          <a:lstStyle/>
          <a:p>
            <a:pPr algn="just"/>
            <a:r>
              <a:rPr lang="pt-BR" b="1" dirty="0"/>
              <a:t>Análise descritiva</a:t>
            </a:r>
            <a:r>
              <a:rPr lang="pt-BR" dirty="0"/>
              <a:t>: Descrição das principais características de um conjunto de dados, </a:t>
            </a:r>
          </a:p>
          <a:p>
            <a:pPr lvl="1" algn="just"/>
            <a:r>
              <a:rPr lang="pt-BR" dirty="0"/>
              <a:t>Operações como a média, mediana, moda, mínima, máxima, percentagem e frequência. </a:t>
            </a:r>
          </a:p>
          <a:p>
            <a:pPr lvl="2" algn="just"/>
            <a:r>
              <a:rPr lang="pt-BR" dirty="0"/>
              <a:t>Se, por exemplo, a variável é uma nota de 0 a 5, então, a análise descritiva poderia mostrar o total e porcentagem de cada nota, a média geral ou o desvio padrão, por exemplo.</a:t>
            </a:r>
          </a:p>
          <a:p>
            <a:pPr lvl="1" algn="just"/>
            <a:endParaRPr lang="pt-BR" dirty="0"/>
          </a:p>
          <a:p>
            <a:pPr algn="just"/>
            <a:r>
              <a:rPr lang="pt-BR" b="1" dirty="0"/>
              <a:t>Análise exploratória</a:t>
            </a:r>
            <a:r>
              <a:rPr lang="pt-BR" dirty="0"/>
              <a:t>: </a:t>
            </a:r>
          </a:p>
          <a:p>
            <a:pPr lvl="1" algn="just"/>
            <a:r>
              <a:rPr lang="pt-BR" dirty="0"/>
              <a:t>Correlação entre variáveis, usando técnicas como regressões e análise de variância. </a:t>
            </a:r>
          </a:p>
          <a:p>
            <a:pPr lvl="2" algn="just"/>
            <a:r>
              <a:rPr lang="pt-BR" dirty="0"/>
              <a:t>Exemplo: Descobriram uma associação direta entre mortalidade infantil e analfabetismo dos pais. Trata-se de uma abordagem mais focada na descoberta de novas relações ou fatos que previamente eram desconhecidos e, muitas vezes, faz uso de gráficos e ferramentas de visualização de dados para esta exploração.</a:t>
            </a:r>
          </a:p>
          <a:p>
            <a:pPr algn="just"/>
            <a:endParaRPr lang="pt-BR" dirty="0"/>
          </a:p>
          <a:p>
            <a:endParaRPr lang="pt-BR" dirty="0"/>
          </a:p>
        </p:txBody>
      </p:sp>
      <p:sp>
        <p:nvSpPr>
          <p:cNvPr id="4" name="Espaço Reservado para Data 3">
            <a:extLst>
              <a:ext uri="{FF2B5EF4-FFF2-40B4-BE49-F238E27FC236}">
                <a16:creationId xmlns:a16="http://schemas.microsoft.com/office/drawing/2014/main" id="{CC7F492E-556E-6C4D-87E9-65F6E1E14DE7}"/>
              </a:ext>
            </a:extLst>
          </p:cNvPr>
          <p:cNvSpPr>
            <a:spLocks noGrp="1"/>
          </p:cNvSpPr>
          <p:nvPr>
            <p:ph type="dt" sz="half" idx="10"/>
          </p:nvPr>
        </p:nvSpPr>
        <p:spPr/>
        <p:txBody>
          <a:bodyPr/>
          <a:lstStyle/>
          <a:p>
            <a:fld id="{9DD804C6-2E6B-5247-9452-1159B1036190}" type="datetime1">
              <a:rPr lang="en-US" smtClean="0"/>
              <a:t>8/11/2026</a:t>
            </a:fld>
            <a:endParaRPr lang="en-US"/>
          </a:p>
        </p:txBody>
      </p:sp>
      <p:sp>
        <p:nvSpPr>
          <p:cNvPr id="5" name="Espaço Reservado para Rodapé 4">
            <a:extLst>
              <a:ext uri="{FF2B5EF4-FFF2-40B4-BE49-F238E27FC236}">
                <a16:creationId xmlns:a16="http://schemas.microsoft.com/office/drawing/2014/main" id="{AFFB02AE-8A69-5146-B34C-D6D3AA1A0D6D}"/>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18904C78-B8A0-6841-BE5A-BA3FC8A2E0E3}"/>
              </a:ext>
            </a:extLst>
          </p:cNvPr>
          <p:cNvSpPr>
            <a:spLocks noGrp="1"/>
          </p:cNvSpPr>
          <p:nvPr>
            <p:ph type="sldNum" sz="quarter" idx="12"/>
          </p:nvPr>
        </p:nvSpPr>
        <p:spPr/>
        <p:txBody>
          <a:bodyPr/>
          <a:lstStyle/>
          <a:p>
            <a:fld id="{E30AF5A0-43BB-4336-8627-9123B9144D80}" type="slidenum">
              <a:rPr lang="en-US" smtClean="0"/>
              <a:t>7</a:t>
            </a:fld>
            <a:endParaRPr lang="en-US"/>
          </a:p>
        </p:txBody>
      </p:sp>
    </p:spTree>
    <p:extLst>
      <p:ext uri="{BB962C8B-B14F-4D97-AF65-F5344CB8AC3E}">
        <p14:creationId xmlns:p14="http://schemas.microsoft.com/office/powerpoint/2010/main" val="1152507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922EE-CE7E-2E41-A265-6A89D30B8962}"/>
              </a:ext>
            </a:extLst>
          </p:cNvPr>
          <p:cNvSpPr>
            <a:spLocks noGrp="1"/>
          </p:cNvSpPr>
          <p:nvPr>
            <p:ph type="title"/>
          </p:nvPr>
        </p:nvSpPr>
        <p:spPr/>
        <p:txBody>
          <a:bodyPr/>
          <a:lstStyle/>
          <a:p>
            <a:r>
              <a:rPr lang="pt-BR" dirty="0"/>
              <a:t>Quais análises?</a:t>
            </a:r>
          </a:p>
        </p:txBody>
      </p:sp>
      <p:sp>
        <p:nvSpPr>
          <p:cNvPr id="3" name="Espaço Reservado para Conteúdo 2">
            <a:extLst>
              <a:ext uri="{FF2B5EF4-FFF2-40B4-BE49-F238E27FC236}">
                <a16:creationId xmlns:a16="http://schemas.microsoft.com/office/drawing/2014/main" id="{48293858-FBC1-684D-898D-CE63CA08707E}"/>
              </a:ext>
            </a:extLst>
          </p:cNvPr>
          <p:cNvSpPr>
            <a:spLocks noGrp="1"/>
          </p:cNvSpPr>
          <p:nvPr>
            <p:ph idx="1"/>
          </p:nvPr>
        </p:nvSpPr>
        <p:spPr/>
        <p:txBody>
          <a:bodyPr/>
          <a:lstStyle/>
          <a:p>
            <a:r>
              <a:rPr lang="pt-BR" b="1" dirty="0"/>
              <a:t>Análise preditiva</a:t>
            </a:r>
            <a:r>
              <a:rPr lang="pt-BR" dirty="0"/>
              <a:t>: Acúmulo anterior e de uma série histórica dos dados para tentar fazer previsões sobre eventos futuros. </a:t>
            </a:r>
          </a:p>
          <a:p>
            <a:pPr lvl="1" algn="just"/>
            <a:r>
              <a:rPr lang="pt-BR" dirty="0"/>
              <a:t>Imagine um banco de dados com os locais frequentados por uma determinada pessoa. Se ela, tem uma rotina mais ou menos regular (como sair todo dia pela manhã para trabalhar em um escritório), então, seria possível utilizar estes dados para formular predições sobre onde ela estará na próxima segunda-feira às 9 horas, por exemplo.</a:t>
            </a:r>
          </a:p>
          <a:p>
            <a:pPr lvl="1"/>
            <a:endParaRPr lang="pt-BR" dirty="0"/>
          </a:p>
          <a:p>
            <a:r>
              <a:rPr lang="pt-BR" b="1" dirty="0"/>
              <a:t>Análise Diagnóstica</a:t>
            </a:r>
            <a:r>
              <a:rPr lang="pt-BR" dirty="0"/>
              <a:t>: Explora as causas de eventos específicos. Exemplo: por que houve uma queda nas vendas em um determinado período? </a:t>
            </a:r>
          </a:p>
        </p:txBody>
      </p:sp>
      <p:sp>
        <p:nvSpPr>
          <p:cNvPr id="4" name="Espaço Reservado para Data 3">
            <a:extLst>
              <a:ext uri="{FF2B5EF4-FFF2-40B4-BE49-F238E27FC236}">
                <a16:creationId xmlns:a16="http://schemas.microsoft.com/office/drawing/2014/main" id="{DBE5C309-4D6E-5148-9B44-245EE7270CE8}"/>
              </a:ext>
            </a:extLst>
          </p:cNvPr>
          <p:cNvSpPr>
            <a:spLocks noGrp="1"/>
          </p:cNvSpPr>
          <p:nvPr>
            <p:ph type="dt" sz="half" idx="10"/>
          </p:nvPr>
        </p:nvSpPr>
        <p:spPr/>
        <p:txBody>
          <a:bodyPr/>
          <a:lstStyle/>
          <a:p>
            <a:fld id="{DE3967F7-0B39-464C-8A02-C434988FA7FD}" type="datetime1">
              <a:rPr lang="en-US" smtClean="0"/>
              <a:t>8/11/2026</a:t>
            </a:fld>
            <a:endParaRPr lang="en-US"/>
          </a:p>
        </p:txBody>
      </p:sp>
      <p:sp>
        <p:nvSpPr>
          <p:cNvPr id="5" name="Espaço Reservado para Rodapé 4">
            <a:extLst>
              <a:ext uri="{FF2B5EF4-FFF2-40B4-BE49-F238E27FC236}">
                <a16:creationId xmlns:a16="http://schemas.microsoft.com/office/drawing/2014/main" id="{EBAB62FB-EE8E-B949-B5C1-7A96F51A8EE6}"/>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E5309799-1571-1240-8C15-89A669ADD288}"/>
              </a:ext>
            </a:extLst>
          </p:cNvPr>
          <p:cNvSpPr>
            <a:spLocks noGrp="1"/>
          </p:cNvSpPr>
          <p:nvPr>
            <p:ph type="sldNum" sz="quarter" idx="12"/>
          </p:nvPr>
        </p:nvSpPr>
        <p:spPr/>
        <p:txBody>
          <a:bodyPr/>
          <a:lstStyle/>
          <a:p>
            <a:fld id="{E30AF5A0-43BB-4336-8627-9123B9144D80}" type="slidenum">
              <a:rPr lang="en-US" smtClean="0"/>
              <a:t>8</a:t>
            </a:fld>
            <a:endParaRPr lang="en-US"/>
          </a:p>
        </p:txBody>
      </p:sp>
    </p:spTree>
    <p:extLst>
      <p:ext uri="{BB962C8B-B14F-4D97-AF65-F5344CB8AC3E}">
        <p14:creationId xmlns:p14="http://schemas.microsoft.com/office/powerpoint/2010/main" val="575665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88D4B5-5217-3D45-BF05-967AA3508F9C}"/>
              </a:ext>
            </a:extLst>
          </p:cNvPr>
          <p:cNvSpPr>
            <a:spLocks noGrp="1"/>
          </p:cNvSpPr>
          <p:nvPr>
            <p:ph type="title"/>
          </p:nvPr>
        </p:nvSpPr>
        <p:spPr/>
        <p:txBody>
          <a:bodyPr/>
          <a:lstStyle/>
          <a:p>
            <a:r>
              <a:rPr lang="pt-BR" dirty="0"/>
              <a:t>Passos para a análise de dados</a:t>
            </a:r>
          </a:p>
        </p:txBody>
      </p:sp>
      <p:sp>
        <p:nvSpPr>
          <p:cNvPr id="3" name="Espaço Reservado para Conteúdo 2">
            <a:extLst>
              <a:ext uri="{FF2B5EF4-FFF2-40B4-BE49-F238E27FC236}">
                <a16:creationId xmlns:a16="http://schemas.microsoft.com/office/drawing/2014/main" id="{31353424-996F-D644-9086-71EA3E0B6D0C}"/>
              </a:ext>
            </a:extLst>
          </p:cNvPr>
          <p:cNvSpPr>
            <a:spLocks noGrp="1"/>
          </p:cNvSpPr>
          <p:nvPr>
            <p:ph idx="1"/>
          </p:nvPr>
        </p:nvSpPr>
        <p:spPr/>
        <p:txBody>
          <a:bodyPr/>
          <a:lstStyle/>
          <a:p>
            <a:r>
              <a:rPr lang="pt-BR" dirty="0"/>
              <a:t>Identificar o interesse do estudo. Que perguntas desejamos responder?</a:t>
            </a:r>
          </a:p>
          <a:p>
            <a:r>
              <a:rPr lang="pt-BR" dirty="0"/>
              <a:t>Planejar a coleta de dados</a:t>
            </a:r>
          </a:p>
          <a:p>
            <a:r>
              <a:rPr lang="pt-BR" dirty="0"/>
              <a:t>Realizar a coleta de dados</a:t>
            </a:r>
          </a:p>
          <a:p>
            <a:r>
              <a:rPr lang="pt-BR" dirty="0"/>
              <a:t>Validação das análises</a:t>
            </a:r>
          </a:p>
          <a:p>
            <a:r>
              <a:rPr lang="pt-BR" dirty="0"/>
              <a:t>Responde à pergunta de interesse </a:t>
            </a:r>
          </a:p>
        </p:txBody>
      </p:sp>
      <p:sp>
        <p:nvSpPr>
          <p:cNvPr id="4" name="Espaço Reservado para Data 3">
            <a:extLst>
              <a:ext uri="{FF2B5EF4-FFF2-40B4-BE49-F238E27FC236}">
                <a16:creationId xmlns:a16="http://schemas.microsoft.com/office/drawing/2014/main" id="{CA258AD1-62EE-FA4C-BBFA-D1AF1B1524B2}"/>
              </a:ext>
            </a:extLst>
          </p:cNvPr>
          <p:cNvSpPr>
            <a:spLocks noGrp="1"/>
          </p:cNvSpPr>
          <p:nvPr>
            <p:ph type="dt" sz="half" idx="10"/>
          </p:nvPr>
        </p:nvSpPr>
        <p:spPr/>
        <p:txBody>
          <a:bodyPr/>
          <a:lstStyle/>
          <a:p>
            <a:fld id="{7530FAA6-1FB6-6C4D-B2BD-F9083D352D03}" type="datetime1">
              <a:rPr lang="en-US" smtClean="0"/>
              <a:t>8/11/2026</a:t>
            </a:fld>
            <a:endParaRPr lang="en-US"/>
          </a:p>
        </p:txBody>
      </p:sp>
      <p:sp>
        <p:nvSpPr>
          <p:cNvPr id="5" name="Espaço Reservado para Rodapé 4">
            <a:extLst>
              <a:ext uri="{FF2B5EF4-FFF2-40B4-BE49-F238E27FC236}">
                <a16:creationId xmlns:a16="http://schemas.microsoft.com/office/drawing/2014/main" id="{2AEC7373-BA6A-4442-8FB5-99D470561A22}"/>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BF76FAEF-0DE6-B242-9DE4-44899E2FBAF5}"/>
              </a:ext>
            </a:extLst>
          </p:cNvPr>
          <p:cNvSpPr>
            <a:spLocks noGrp="1"/>
          </p:cNvSpPr>
          <p:nvPr>
            <p:ph type="sldNum" sz="quarter" idx="12"/>
          </p:nvPr>
        </p:nvSpPr>
        <p:spPr/>
        <p:txBody>
          <a:bodyPr/>
          <a:lstStyle/>
          <a:p>
            <a:fld id="{E30AF5A0-43BB-4336-8627-9123B9144D80}" type="slidenum">
              <a:rPr lang="en-US" smtClean="0"/>
              <a:t>9</a:t>
            </a:fld>
            <a:endParaRPr lang="en-US"/>
          </a:p>
        </p:txBody>
      </p:sp>
    </p:spTree>
    <p:extLst>
      <p:ext uri="{BB962C8B-B14F-4D97-AF65-F5344CB8AC3E}">
        <p14:creationId xmlns:p14="http://schemas.microsoft.com/office/powerpoint/2010/main" val="1544649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161C2A-FA69-0A48-8EB7-6855240C9E7D}"/>
              </a:ext>
            </a:extLst>
          </p:cNvPr>
          <p:cNvSpPr>
            <a:spLocks noGrp="1"/>
          </p:cNvSpPr>
          <p:nvPr>
            <p:ph type="title"/>
          </p:nvPr>
        </p:nvSpPr>
        <p:spPr/>
        <p:txBody>
          <a:bodyPr/>
          <a:lstStyle/>
          <a:p>
            <a:r>
              <a:rPr lang="pt-BR" dirty="0"/>
              <a:t>Porque analisamos os dados?</a:t>
            </a:r>
          </a:p>
        </p:txBody>
      </p:sp>
      <p:sp>
        <p:nvSpPr>
          <p:cNvPr id="3" name="Espaço Reservado para Conteúdo 2">
            <a:extLst>
              <a:ext uri="{FF2B5EF4-FFF2-40B4-BE49-F238E27FC236}">
                <a16:creationId xmlns:a16="http://schemas.microsoft.com/office/drawing/2014/main" id="{F52323C0-3DD9-3648-BE69-0CB482F2040A}"/>
              </a:ext>
            </a:extLst>
          </p:cNvPr>
          <p:cNvSpPr>
            <a:spLocks noGrp="1"/>
          </p:cNvSpPr>
          <p:nvPr>
            <p:ph idx="1"/>
          </p:nvPr>
        </p:nvSpPr>
        <p:spPr/>
        <p:txBody>
          <a:bodyPr/>
          <a:lstStyle/>
          <a:p>
            <a:r>
              <a:rPr lang="pt-BR" dirty="0"/>
              <a:t>Existem ao menos 3 motivos para analisar os dados:</a:t>
            </a:r>
          </a:p>
          <a:p>
            <a:pPr lvl="1"/>
            <a:r>
              <a:rPr lang="pt-BR" dirty="0"/>
              <a:t>Para entender o que aconteceu e o que está acontecendo</a:t>
            </a:r>
          </a:p>
          <a:p>
            <a:pPr lvl="1"/>
            <a:r>
              <a:rPr lang="pt-BR" dirty="0"/>
              <a:t>Para predizer o que vai acontecer no futuro</a:t>
            </a:r>
          </a:p>
          <a:p>
            <a:pPr lvl="1"/>
            <a:r>
              <a:rPr lang="pt-BR" dirty="0"/>
              <a:t>Para guiar a tomada de decisões</a:t>
            </a:r>
          </a:p>
        </p:txBody>
      </p:sp>
      <p:sp>
        <p:nvSpPr>
          <p:cNvPr id="4" name="Espaço Reservado para Data 3">
            <a:extLst>
              <a:ext uri="{FF2B5EF4-FFF2-40B4-BE49-F238E27FC236}">
                <a16:creationId xmlns:a16="http://schemas.microsoft.com/office/drawing/2014/main" id="{CBC0C9E0-1229-874D-978B-D55A81B0C626}"/>
              </a:ext>
            </a:extLst>
          </p:cNvPr>
          <p:cNvSpPr>
            <a:spLocks noGrp="1"/>
          </p:cNvSpPr>
          <p:nvPr>
            <p:ph type="dt" sz="half" idx="10"/>
          </p:nvPr>
        </p:nvSpPr>
        <p:spPr/>
        <p:txBody>
          <a:bodyPr/>
          <a:lstStyle/>
          <a:p>
            <a:fld id="{FF946DB9-8C5C-FE41-BB90-56AD3E851310}" type="datetime1">
              <a:rPr lang="en-US" smtClean="0"/>
              <a:t>8/11/2026</a:t>
            </a:fld>
            <a:endParaRPr lang="en-US"/>
          </a:p>
        </p:txBody>
      </p:sp>
      <p:sp>
        <p:nvSpPr>
          <p:cNvPr id="5" name="Espaço Reservado para Rodapé 4">
            <a:extLst>
              <a:ext uri="{FF2B5EF4-FFF2-40B4-BE49-F238E27FC236}">
                <a16:creationId xmlns:a16="http://schemas.microsoft.com/office/drawing/2014/main" id="{2DD22E23-BD7A-874F-B747-01C987C044D9}"/>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844B35B0-CF8F-0540-B73B-5089F4B894B1}"/>
              </a:ext>
            </a:extLst>
          </p:cNvPr>
          <p:cNvSpPr>
            <a:spLocks noGrp="1"/>
          </p:cNvSpPr>
          <p:nvPr>
            <p:ph type="sldNum" sz="quarter" idx="12"/>
          </p:nvPr>
        </p:nvSpPr>
        <p:spPr/>
        <p:txBody>
          <a:bodyPr/>
          <a:lstStyle/>
          <a:p>
            <a:fld id="{E30AF5A0-43BB-4336-8627-9123B9144D80}" type="slidenum">
              <a:rPr lang="en-US" smtClean="0"/>
              <a:t>10</a:t>
            </a:fld>
            <a:endParaRPr lang="en-US"/>
          </a:p>
        </p:txBody>
      </p:sp>
    </p:spTree>
    <p:extLst>
      <p:ext uri="{BB962C8B-B14F-4D97-AF65-F5344CB8AC3E}">
        <p14:creationId xmlns:p14="http://schemas.microsoft.com/office/powerpoint/2010/main" val="1629443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428EC-F6DE-3946-88B4-34513130F892}"/>
              </a:ext>
            </a:extLst>
          </p:cNvPr>
          <p:cNvSpPr>
            <a:spLocks noGrp="1"/>
          </p:cNvSpPr>
          <p:nvPr>
            <p:ph type="title"/>
          </p:nvPr>
        </p:nvSpPr>
        <p:spPr/>
        <p:txBody>
          <a:bodyPr>
            <a:normAutofit fontScale="90000"/>
          </a:bodyPr>
          <a:lstStyle/>
          <a:p>
            <a:r>
              <a:rPr lang="pt-BR" dirty="0"/>
              <a:t>Alguns exemplos de perguntas que podemos responder usando análise de dados</a:t>
            </a:r>
          </a:p>
        </p:txBody>
      </p:sp>
      <p:sp>
        <p:nvSpPr>
          <p:cNvPr id="3" name="Espaço Reservado para Conteúdo 2">
            <a:extLst>
              <a:ext uri="{FF2B5EF4-FFF2-40B4-BE49-F238E27FC236}">
                <a16:creationId xmlns:a16="http://schemas.microsoft.com/office/drawing/2014/main" id="{4E76BD20-A49C-4040-A255-29C41B1BC4AF}"/>
              </a:ext>
            </a:extLst>
          </p:cNvPr>
          <p:cNvSpPr>
            <a:spLocks noGrp="1"/>
          </p:cNvSpPr>
          <p:nvPr>
            <p:ph idx="1"/>
          </p:nvPr>
        </p:nvSpPr>
        <p:spPr/>
        <p:txBody>
          <a:bodyPr/>
          <a:lstStyle/>
          <a:p>
            <a:r>
              <a:rPr lang="pt-BR" dirty="0"/>
              <a:t>O número de casos de COVID teve aumento significativo de um mês para o outro?</a:t>
            </a:r>
          </a:p>
          <a:p>
            <a:r>
              <a:rPr lang="pt-BR" dirty="0"/>
              <a:t>Dois tratamentos diferentes tem a mesma eficácia para controlar a hipertensão?</a:t>
            </a:r>
          </a:p>
          <a:p>
            <a:r>
              <a:rPr lang="pt-BR" dirty="0"/>
              <a:t>A obesidade é um fator de risco para a morte por COVID?</a:t>
            </a:r>
          </a:p>
          <a:p>
            <a:r>
              <a:rPr lang="pt-BR" dirty="0"/>
              <a:t>A vitamina </a:t>
            </a:r>
            <a:r>
              <a:rPr lang="pt-BR" dirty="0" err="1"/>
              <a:t>D</a:t>
            </a:r>
            <a:r>
              <a:rPr lang="pt-BR" dirty="0"/>
              <a:t> é um fator protetor para o COVID?</a:t>
            </a:r>
          </a:p>
          <a:p>
            <a:r>
              <a:rPr lang="pt-BR" dirty="0"/>
              <a:t>O ensino remoto e o presencial tem o mesmo resultado para o aprendizado de crianças?</a:t>
            </a:r>
          </a:p>
        </p:txBody>
      </p:sp>
      <p:sp>
        <p:nvSpPr>
          <p:cNvPr id="4" name="Espaço Reservado para Data 3">
            <a:extLst>
              <a:ext uri="{FF2B5EF4-FFF2-40B4-BE49-F238E27FC236}">
                <a16:creationId xmlns:a16="http://schemas.microsoft.com/office/drawing/2014/main" id="{3D306338-9ED4-CA4B-81EC-2806307D2A4E}"/>
              </a:ext>
            </a:extLst>
          </p:cNvPr>
          <p:cNvSpPr>
            <a:spLocks noGrp="1"/>
          </p:cNvSpPr>
          <p:nvPr>
            <p:ph type="dt" sz="half" idx="10"/>
          </p:nvPr>
        </p:nvSpPr>
        <p:spPr/>
        <p:txBody>
          <a:bodyPr/>
          <a:lstStyle/>
          <a:p>
            <a:fld id="{51A8B4A8-8810-414F-90E2-6ADDD7D304BE}" type="datetime1">
              <a:rPr lang="en-US" smtClean="0"/>
              <a:t>8/11/2026</a:t>
            </a:fld>
            <a:endParaRPr lang="en-US"/>
          </a:p>
        </p:txBody>
      </p:sp>
      <p:sp>
        <p:nvSpPr>
          <p:cNvPr id="5" name="Espaço Reservado para Rodapé 4">
            <a:extLst>
              <a:ext uri="{FF2B5EF4-FFF2-40B4-BE49-F238E27FC236}">
                <a16:creationId xmlns:a16="http://schemas.microsoft.com/office/drawing/2014/main" id="{7FA6211C-1FCA-2540-9C79-20F71EA10896}"/>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C11AC0DC-AFEC-FE46-8051-136EE8F78361}"/>
              </a:ext>
            </a:extLst>
          </p:cNvPr>
          <p:cNvSpPr>
            <a:spLocks noGrp="1"/>
          </p:cNvSpPr>
          <p:nvPr>
            <p:ph type="sldNum" sz="quarter" idx="12"/>
          </p:nvPr>
        </p:nvSpPr>
        <p:spPr/>
        <p:txBody>
          <a:bodyPr/>
          <a:lstStyle/>
          <a:p>
            <a:fld id="{E30AF5A0-43BB-4336-8627-9123B9144D80}" type="slidenum">
              <a:rPr lang="en-US" smtClean="0"/>
              <a:t>11</a:t>
            </a:fld>
            <a:endParaRPr lang="en-US"/>
          </a:p>
        </p:txBody>
      </p:sp>
    </p:spTree>
    <p:extLst>
      <p:ext uri="{BB962C8B-B14F-4D97-AF65-F5344CB8AC3E}">
        <p14:creationId xmlns:p14="http://schemas.microsoft.com/office/powerpoint/2010/main" val="3473626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BD2B32-9553-ECAD-9F57-52F2E3E6186C}"/>
              </a:ext>
            </a:extLst>
          </p:cNvPr>
          <p:cNvSpPr>
            <a:spLocks noGrp="1"/>
          </p:cNvSpPr>
          <p:nvPr>
            <p:ph type="title"/>
          </p:nvPr>
        </p:nvSpPr>
        <p:spPr/>
        <p:txBody>
          <a:bodyPr/>
          <a:lstStyle/>
          <a:p>
            <a:r>
              <a:rPr lang="pt-BR"/>
              <a:t>Apresentação do Laboratório</a:t>
            </a:r>
          </a:p>
        </p:txBody>
      </p:sp>
      <p:sp>
        <p:nvSpPr>
          <p:cNvPr id="3" name="Espaço Reservado para Conteúdo 2">
            <a:extLst>
              <a:ext uri="{FF2B5EF4-FFF2-40B4-BE49-F238E27FC236}">
                <a16:creationId xmlns:a16="http://schemas.microsoft.com/office/drawing/2014/main" id="{F1BE6984-054E-9FC6-E8FB-FDECD516D7BE}"/>
              </a:ext>
            </a:extLst>
          </p:cNvPr>
          <p:cNvSpPr>
            <a:spLocks noGrp="1"/>
          </p:cNvSpPr>
          <p:nvPr>
            <p:ph idx="1"/>
          </p:nvPr>
        </p:nvSpPr>
        <p:spPr>
          <a:xfrm>
            <a:off x="700635" y="1933126"/>
            <a:ext cx="10691265" cy="4140088"/>
          </a:xfrm>
        </p:spPr>
        <p:txBody>
          <a:bodyPr vert="horz" lIns="91440" tIns="45720" rIns="91440" bIns="45720" rtlCol="0" anchor="t">
            <a:normAutofit/>
          </a:bodyPr>
          <a:lstStyle/>
          <a:p>
            <a:r>
              <a:rPr lang="pt-BR" dirty="0">
                <a:ea typeface="+mn-lt"/>
                <a:cs typeface="+mn-lt"/>
              </a:rPr>
              <a:t>Laboratório de Análise de Dados usando Python e </a:t>
            </a:r>
            <a:r>
              <a:rPr lang="pt-BR" dirty="0" err="1">
                <a:ea typeface="+mn-lt"/>
                <a:cs typeface="+mn-lt"/>
              </a:rPr>
              <a:t>R</a:t>
            </a:r>
            <a:endParaRPr lang="pt-BR" dirty="0"/>
          </a:p>
          <a:p>
            <a:pPr marL="685800">
              <a:spcBef>
                <a:spcPts val="500"/>
              </a:spcBef>
            </a:pPr>
            <a:r>
              <a:rPr lang="pt-BR" sz="2400" dirty="0">
                <a:ea typeface="+mn-lt"/>
                <a:cs typeface="+mn-lt"/>
              </a:rPr>
              <a:t>Utilizar ferramentas populares: Python (Google </a:t>
            </a:r>
            <a:r>
              <a:rPr lang="pt-BR" sz="2400" dirty="0" err="1">
                <a:ea typeface="+mn-lt"/>
                <a:cs typeface="+mn-lt"/>
              </a:rPr>
              <a:t>Colab</a:t>
            </a:r>
            <a:r>
              <a:rPr lang="pt-BR" sz="2400" dirty="0">
                <a:ea typeface="+mn-lt"/>
                <a:cs typeface="+mn-lt"/>
              </a:rPr>
              <a:t>) e </a:t>
            </a:r>
            <a:r>
              <a:rPr lang="pt-BR" sz="2400" dirty="0" err="1">
                <a:ea typeface="+mn-lt"/>
                <a:cs typeface="+mn-lt"/>
              </a:rPr>
              <a:t>R</a:t>
            </a:r>
            <a:r>
              <a:rPr lang="pt-BR" sz="2400" dirty="0">
                <a:ea typeface="+mn-lt"/>
                <a:cs typeface="+mn-lt"/>
              </a:rPr>
              <a:t> (</a:t>
            </a:r>
            <a:r>
              <a:rPr lang="pt-BR" sz="2400" dirty="0" err="1">
                <a:ea typeface="+mn-lt"/>
                <a:cs typeface="+mn-lt"/>
              </a:rPr>
              <a:t>RStudio</a:t>
            </a:r>
            <a:r>
              <a:rPr lang="pt-BR" sz="2400" dirty="0">
                <a:ea typeface="+mn-lt"/>
                <a:cs typeface="+mn-lt"/>
              </a:rPr>
              <a:t> </a:t>
            </a:r>
            <a:r>
              <a:rPr lang="pt-BR" sz="2400" dirty="0" err="1">
                <a:ea typeface="+mn-lt"/>
                <a:cs typeface="+mn-lt"/>
              </a:rPr>
              <a:t>Cloud</a:t>
            </a:r>
            <a:r>
              <a:rPr lang="pt-BR" sz="2400" dirty="0">
                <a:ea typeface="+mn-lt"/>
                <a:cs typeface="+mn-lt"/>
              </a:rPr>
              <a:t>)</a:t>
            </a:r>
            <a:endParaRPr lang="pt-BR" dirty="0">
              <a:ea typeface="+mn-lt"/>
              <a:cs typeface="+mn-lt"/>
            </a:endParaRPr>
          </a:p>
          <a:p>
            <a:pPr marL="457200" indent="0">
              <a:spcBef>
                <a:spcPts val="500"/>
              </a:spcBef>
              <a:buNone/>
            </a:pPr>
            <a:endParaRPr lang="pt-BR" sz="2400" dirty="0"/>
          </a:p>
          <a:p>
            <a:endParaRPr lang="pt-BR" dirty="0"/>
          </a:p>
        </p:txBody>
      </p:sp>
      <p:pic>
        <p:nvPicPr>
          <p:cNvPr id="4" name="Imagem 3" descr="Logotipo, nome da empresa&#10;&#10;Descrição gerada automaticamente">
            <a:extLst>
              <a:ext uri="{FF2B5EF4-FFF2-40B4-BE49-F238E27FC236}">
                <a16:creationId xmlns:a16="http://schemas.microsoft.com/office/drawing/2014/main" id="{7AC59AF4-8798-0AA0-2549-A20E824EC005}"/>
              </a:ext>
            </a:extLst>
          </p:cNvPr>
          <p:cNvPicPr>
            <a:picLocks noChangeAspect="1"/>
          </p:cNvPicPr>
          <p:nvPr/>
        </p:nvPicPr>
        <p:blipFill>
          <a:blip r:embed="rId3"/>
          <a:stretch>
            <a:fillRect/>
          </a:stretch>
        </p:blipFill>
        <p:spPr>
          <a:xfrm>
            <a:off x="1164857" y="5085769"/>
            <a:ext cx="2472612" cy="879911"/>
          </a:xfrm>
          <a:prstGeom prst="rect">
            <a:avLst/>
          </a:prstGeom>
        </p:spPr>
      </p:pic>
      <p:pic>
        <p:nvPicPr>
          <p:cNvPr id="5" name="Imagem 4">
            <a:extLst>
              <a:ext uri="{FF2B5EF4-FFF2-40B4-BE49-F238E27FC236}">
                <a16:creationId xmlns:a16="http://schemas.microsoft.com/office/drawing/2014/main" id="{F65C87AF-7CE5-6F37-3D71-E1BD76E97C11}"/>
              </a:ext>
            </a:extLst>
          </p:cNvPr>
          <p:cNvPicPr>
            <a:picLocks noChangeAspect="1"/>
          </p:cNvPicPr>
          <p:nvPr/>
        </p:nvPicPr>
        <p:blipFill>
          <a:blip r:embed="rId4"/>
          <a:stretch>
            <a:fillRect/>
          </a:stretch>
        </p:blipFill>
        <p:spPr>
          <a:xfrm>
            <a:off x="8902960" y="5053233"/>
            <a:ext cx="1850572" cy="1020290"/>
          </a:xfrm>
          <a:prstGeom prst="rect">
            <a:avLst/>
          </a:prstGeom>
        </p:spPr>
      </p:pic>
    </p:spTree>
    <p:extLst>
      <p:ext uri="{BB962C8B-B14F-4D97-AF65-F5344CB8AC3E}">
        <p14:creationId xmlns:p14="http://schemas.microsoft.com/office/powerpoint/2010/main" val="1983011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106487-B217-A548-C4FE-874E5BD78222}"/>
              </a:ext>
            </a:extLst>
          </p:cNvPr>
          <p:cNvSpPr>
            <a:spLocks noGrp="1"/>
          </p:cNvSpPr>
          <p:nvPr>
            <p:ph type="title"/>
          </p:nvPr>
        </p:nvSpPr>
        <p:spPr/>
        <p:txBody>
          <a:bodyPr/>
          <a:lstStyle/>
          <a:p>
            <a:r>
              <a:rPr lang="pt-BR" dirty="0"/>
              <a:t>Introdução ao Google </a:t>
            </a:r>
            <a:r>
              <a:rPr lang="pt-BR" dirty="0" err="1"/>
              <a:t>Colab</a:t>
            </a:r>
            <a:endParaRPr lang="pt-BR" dirty="0"/>
          </a:p>
        </p:txBody>
      </p:sp>
      <p:sp>
        <p:nvSpPr>
          <p:cNvPr id="3" name="Espaço Reservado para Conteúdo 2">
            <a:extLst>
              <a:ext uri="{FF2B5EF4-FFF2-40B4-BE49-F238E27FC236}">
                <a16:creationId xmlns:a16="http://schemas.microsoft.com/office/drawing/2014/main" id="{1993C460-F260-69BF-4BAC-80B0A00B983A}"/>
              </a:ext>
            </a:extLst>
          </p:cNvPr>
          <p:cNvSpPr>
            <a:spLocks noGrp="1"/>
          </p:cNvSpPr>
          <p:nvPr>
            <p:ph idx="1"/>
          </p:nvPr>
        </p:nvSpPr>
        <p:spPr>
          <a:xfrm>
            <a:off x="700635" y="1766170"/>
            <a:ext cx="10691265" cy="4163044"/>
          </a:xfrm>
        </p:spPr>
        <p:txBody>
          <a:bodyPr vert="horz" lIns="91440" tIns="45720" rIns="91440" bIns="45720" rtlCol="0" anchor="t">
            <a:normAutofit/>
          </a:bodyPr>
          <a:lstStyle/>
          <a:p>
            <a:r>
              <a:rPr lang="pt-BR" b="1" dirty="0"/>
              <a:t>O que é o Google </a:t>
            </a:r>
            <a:r>
              <a:rPr lang="pt-BR" b="1" dirty="0" err="1"/>
              <a:t>Colab</a:t>
            </a:r>
            <a:r>
              <a:rPr lang="pt-BR" b="1" dirty="0"/>
              <a:t>?</a:t>
            </a:r>
          </a:p>
          <a:p>
            <a:pPr lvl="1">
              <a:buFont typeface="Courier New"/>
              <a:buChar char="o"/>
            </a:pPr>
            <a:r>
              <a:rPr lang="pt-BR" sz="2000" b="1" dirty="0"/>
              <a:t>Definição</a:t>
            </a:r>
            <a:r>
              <a:rPr lang="pt-BR" sz="2000" dirty="0"/>
              <a:t>: </a:t>
            </a:r>
            <a:r>
              <a:rPr lang="pt-BR" sz="2000" dirty="0">
                <a:ea typeface="+mn-lt"/>
                <a:cs typeface="+mn-lt"/>
              </a:rPr>
              <a:t>é um serviço gratuito fornecido pelo Google que permite a execução de código Python diretamente no navegador</a:t>
            </a:r>
          </a:p>
          <a:p>
            <a:pPr lvl="1">
              <a:buFont typeface="Courier New"/>
              <a:buChar char="o"/>
            </a:pPr>
            <a:r>
              <a:rPr lang="pt-BR" sz="2000" b="1" dirty="0"/>
              <a:t>Finalidade</a:t>
            </a:r>
            <a:r>
              <a:rPr lang="pt-BR" sz="2000" dirty="0"/>
              <a:t>: Facilita a execução de código Python diretamente no navegador, permitindo a colaboração em tempo real.</a:t>
            </a:r>
            <a:endParaRPr lang="pt-BR" dirty="0"/>
          </a:p>
        </p:txBody>
      </p:sp>
      <p:pic>
        <p:nvPicPr>
          <p:cNvPr id="4" name="Imagem 3" descr="Logotipo&#10;&#10;Descrição gerada automaticamente">
            <a:extLst>
              <a:ext uri="{FF2B5EF4-FFF2-40B4-BE49-F238E27FC236}">
                <a16:creationId xmlns:a16="http://schemas.microsoft.com/office/drawing/2014/main" id="{AC37A306-E5AB-921A-BC86-DE597B112114}"/>
              </a:ext>
            </a:extLst>
          </p:cNvPr>
          <p:cNvPicPr>
            <a:picLocks noChangeAspect="1"/>
          </p:cNvPicPr>
          <p:nvPr/>
        </p:nvPicPr>
        <p:blipFill>
          <a:blip r:embed="rId2"/>
          <a:stretch>
            <a:fillRect/>
          </a:stretch>
        </p:blipFill>
        <p:spPr>
          <a:xfrm>
            <a:off x="4447591" y="4142472"/>
            <a:ext cx="3296817" cy="1197314"/>
          </a:xfrm>
          <a:prstGeom prst="rect">
            <a:avLst/>
          </a:prstGeom>
        </p:spPr>
      </p:pic>
    </p:spTree>
    <p:extLst>
      <p:ext uri="{BB962C8B-B14F-4D97-AF65-F5344CB8AC3E}">
        <p14:creationId xmlns:p14="http://schemas.microsoft.com/office/powerpoint/2010/main" val="1839050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D5CDA-6E22-A956-908A-34974F1A00A6}"/>
              </a:ext>
            </a:extLst>
          </p:cNvPr>
          <p:cNvSpPr>
            <a:spLocks noGrp="1"/>
          </p:cNvSpPr>
          <p:nvPr>
            <p:ph type="title"/>
          </p:nvPr>
        </p:nvSpPr>
        <p:spPr/>
        <p:txBody>
          <a:bodyPr/>
          <a:lstStyle/>
          <a:p>
            <a:r>
              <a:rPr lang="pt-BR"/>
              <a:t>Introdução ao Google </a:t>
            </a:r>
            <a:r>
              <a:rPr lang="pt-BR" err="1"/>
              <a:t>Colab</a:t>
            </a:r>
          </a:p>
        </p:txBody>
      </p:sp>
      <p:sp>
        <p:nvSpPr>
          <p:cNvPr id="3" name="Espaço Reservado para Conteúdo 2">
            <a:extLst>
              <a:ext uri="{FF2B5EF4-FFF2-40B4-BE49-F238E27FC236}">
                <a16:creationId xmlns:a16="http://schemas.microsoft.com/office/drawing/2014/main" id="{E879DF62-B075-ACC2-0DD5-46DBC7405423}"/>
              </a:ext>
            </a:extLst>
          </p:cNvPr>
          <p:cNvSpPr>
            <a:spLocks noGrp="1"/>
          </p:cNvSpPr>
          <p:nvPr>
            <p:ph idx="1"/>
          </p:nvPr>
        </p:nvSpPr>
        <p:spPr>
          <a:xfrm>
            <a:off x="700635" y="1916482"/>
            <a:ext cx="10691265" cy="4012732"/>
          </a:xfrm>
        </p:spPr>
        <p:txBody>
          <a:bodyPr vert="horz" lIns="91440" tIns="45720" rIns="91440" bIns="45720" rtlCol="0" anchor="t">
            <a:normAutofit/>
          </a:bodyPr>
          <a:lstStyle/>
          <a:p>
            <a:r>
              <a:rPr lang="pt-BR" b="1" dirty="0"/>
              <a:t>Vantagens do Google </a:t>
            </a:r>
            <a:r>
              <a:rPr lang="pt-BR" b="1" dirty="0" err="1"/>
              <a:t>Colab</a:t>
            </a:r>
            <a:endParaRPr lang="pt-BR" b="1" dirty="0"/>
          </a:p>
          <a:p>
            <a:pPr lvl="1">
              <a:buFont typeface="Courier New"/>
              <a:buChar char="o"/>
            </a:pPr>
            <a:r>
              <a:rPr lang="pt-BR" sz="2000" b="1" dirty="0"/>
              <a:t>Gratuito</a:t>
            </a:r>
            <a:r>
              <a:rPr lang="pt-BR" sz="2000" dirty="0"/>
              <a:t>: Não requer instalação nem configuração complexa.</a:t>
            </a:r>
          </a:p>
          <a:p>
            <a:pPr lvl="1">
              <a:buFont typeface="Courier New"/>
              <a:buChar char="o"/>
            </a:pPr>
            <a:r>
              <a:rPr lang="pt-BR" sz="2000" b="1" dirty="0"/>
              <a:t>Baseado na Nuvem</a:t>
            </a:r>
            <a:r>
              <a:rPr lang="pt-BR" sz="2000" dirty="0"/>
              <a:t>: Acessível de qualquer lugar com conexão à internet.</a:t>
            </a:r>
          </a:p>
          <a:p>
            <a:pPr lvl="1">
              <a:buFont typeface="Courier New"/>
              <a:buChar char="o"/>
            </a:pPr>
            <a:r>
              <a:rPr lang="pt-BR" sz="2000" b="1" dirty="0"/>
              <a:t>Colaboração</a:t>
            </a:r>
            <a:r>
              <a:rPr lang="pt-BR" sz="2000" dirty="0"/>
              <a:t>: Suporta edição colaborativa em tempo real.</a:t>
            </a:r>
          </a:p>
          <a:p>
            <a:pPr lvl="1">
              <a:buFont typeface="Courier New"/>
              <a:buChar char="o"/>
            </a:pPr>
            <a:r>
              <a:rPr lang="pt-BR" sz="2000" b="1" dirty="0"/>
              <a:t>Recursos de Computação</a:t>
            </a:r>
            <a:r>
              <a:rPr lang="pt-BR" sz="2000" dirty="0"/>
              <a:t>: Acesso gratuito a </a:t>
            </a:r>
            <a:r>
              <a:rPr lang="pt-BR" sz="2000" dirty="0" err="1"/>
              <a:t>GPUs</a:t>
            </a:r>
            <a:r>
              <a:rPr lang="pt-BR" sz="2000" dirty="0"/>
              <a:t> e </a:t>
            </a:r>
            <a:r>
              <a:rPr lang="pt-BR" sz="2000" dirty="0" err="1"/>
              <a:t>TPUs</a:t>
            </a:r>
            <a:r>
              <a:rPr lang="pt-BR" sz="2000" dirty="0"/>
              <a:t>.</a:t>
            </a:r>
          </a:p>
        </p:txBody>
      </p:sp>
    </p:spTree>
    <p:extLst>
      <p:ext uri="{BB962C8B-B14F-4D97-AF65-F5344CB8AC3E}">
        <p14:creationId xmlns:p14="http://schemas.microsoft.com/office/powerpoint/2010/main" val="198778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55133D-5B1C-6A97-859A-0229FFEF65C0}"/>
              </a:ext>
            </a:extLst>
          </p:cNvPr>
          <p:cNvSpPr>
            <a:spLocks noGrp="1"/>
          </p:cNvSpPr>
          <p:nvPr>
            <p:ph type="title"/>
          </p:nvPr>
        </p:nvSpPr>
        <p:spPr/>
        <p:txBody>
          <a:bodyPr>
            <a:normAutofit/>
          </a:bodyPr>
          <a:lstStyle/>
          <a:p>
            <a:r>
              <a:rPr lang="pt-BR" b="1" dirty="0"/>
              <a:t>Bibliotecas</a:t>
            </a:r>
          </a:p>
        </p:txBody>
      </p:sp>
      <p:sp>
        <p:nvSpPr>
          <p:cNvPr id="3" name="Espaço Reservado para Conteúdo 2">
            <a:extLst>
              <a:ext uri="{FF2B5EF4-FFF2-40B4-BE49-F238E27FC236}">
                <a16:creationId xmlns:a16="http://schemas.microsoft.com/office/drawing/2014/main" id="{B8039127-041D-CD45-6299-2219FB4EBA4D}"/>
              </a:ext>
            </a:extLst>
          </p:cNvPr>
          <p:cNvSpPr>
            <a:spLocks noGrp="1"/>
          </p:cNvSpPr>
          <p:nvPr>
            <p:ph idx="1"/>
          </p:nvPr>
        </p:nvSpPr>
        <p:spPr>
          <a:xfrm>
            <a:off x="700635" y="1816274"/>
            <a:ext cx="10691265" cy="4112940"/>
          </a:xfrm>
        </p:spPr>
        <p:txBody>
          <a:bodyPr vert="horz" lIns="91440" tIns="45720" rIns="91440" bIns="45720" rtlCol="0" anchor="t">
            <a:normAutofit/>
          </a:bodyPr>
          <a:lstStyle/>
          <a:p>
            <a:r>
              <a:rPr lang="pt-BR" dirty="0"/>
              <a:t>Bibliotecas que iremos utilizar no curso:</a:t>
            </a:r>
          </a:p>
          <a:p>
            <a:pPr lvl="1"/>
            <a:r>
              <a:rPr lang="pt-BR" sz="2000" dirty="0" err="1"/>
              <a:t>Matplotlib</a:t>
            </a:r>
            <a:endParaRPr lang="pt-BR" sz="2000" dirty="0"/>
          </a:p>
          <a:p>
            <a:pPr lvl="2">
              <a:buFont typeface="Wingdings" panose="020B0604020202020204" pitchFamily="34" charset="0"/>
              <a:buChar char="§"/>
            </a:pPr>
            <a:r>
              <a:rPr lang="pt-BR" sz="2000" dirty="0"/>
              <a:t>Biblioteca para criar visualizações em formatos gráficos.</a:t>
            </a:r>
          </a:p>
          <a:p>
            <a:pPr lvl="2">
              <a:buFont typeface="Wingdings"/>
              <a:buChar char="§"/>
            </a:pPr>
            <a:endParaRPr lang="pt-BR" sz="3200" dirty="0">
              <a:latin typeface="Aptos"/>
              <a:cs typeface="Arial"/>
            </a:endParaRPr>
          </a:p>
        </p:txBody>
      </p:sp>
    </p:spTree>
    <p:extLst>
      <p:ext uri="{BB962C8B-B14F-4D97-AF65-F5344CB8AC3E}">
        <p14:creationId xmlns:p14="http://schemas.microsoft.com/office/powerpoint/2010/main" val="79915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FDCBFB-1F91-EF58-55B3-0FB096F5C015}"/>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4565A4AA-D497-E1E1-7184-58F23B5C7423}"/>
              </a:ext>
            </a:extLst>
          </p:cNvPr>
          <p:cNvSpPr>
            <a:spLocks noGrp="1"/>
          </p:cNvSpPr>
          <p:nvPr>
            <p:ph idx="1"/>
          </p:nvPr>
        </p:nvSpPr>
        <p:spPr>
          <a:xfrm>
            <a:off x="706635" y="1691014"/>
            <a:ext cx="10685265" cy="4238200"/>
          </a:xfrm>
        </p:spPr>
        <p:txBody>
          <a:bodyPr vert="horz" lIns="91440" tIns="45720" rIns="91440" bIns="45720" rtlCol="0" anchor="t">
            <a:normAutofit fontScale="85000" lnSpcReduction="20000"/>
          </a:bodyPr>
          <a:lstStyle/>
          <a:p>
            <a:pPr marL="0" indent="0">
              <a:buNone/>
            </a:pPr>
            <a:endParaRPr lang="pt-BR" b="1" dirty="0">
              <a:ea typeface="+mn-lt"/>
              <a:cs typeface="+mn-lt"/>
            </a:endParaRPr>
          </a:p>
          <a:p>
            <a:pPr lvl="1" algn="just">
              <a:buFont typeface="Courier New" panose="020B0604020202020204" pitchFamily="34" charset="0"/>
              <a:buChar char="o"/>
            </a:pPr>
            <a:r>
              <a:rPr lang="pt-BR" sz="2000" b="1" dirty="0">
                <a:ea typeface="+mn-lt"/>
                <a:cs typeface="+mn-lt"/>
              </a:rPr>
              <a:t>Pandas</a:t>
            </a:r>
            <a:r>
              <a:rPr lang="pt-BR" sz="2000" dirty="0">
                <a:ea typeface="+mn-lt"/>
                <a:cs typeface="+mn-lt"/>
              </a:rPr>
              <a:t> é uma biblioteca de software livre para a linguagem de programação Python, usada para manipulação e análise de dados. Ela fornece estruturas de dados e operações para manipular tabelas numéricas e séries temporais.</a:t>
            </a:r>
          </a:p>
          <a:p>
            <a:pPr lvl="2" algn="just">
              <a:buFont typeface="Wingdings" panose="020B0604020202020204" pitchFamily="34" charset="0"/>
              <a:buChar char="§"/>
            </a:pPr>
            <a:r>
              <a:rPr lang="pt-BR" sz="2000" b="1" dirty="0">
                <a:ea typeface="+mn-lt"/>
                <a:cs typeface="+mn-lt"/>
              </a:rPr>
              <a:t>Estruturas de Dados</a:t>
            </a:r>
            <a:r>
              <a:rPr lang="pt-BR" sz="2000" dirty="0">
                <a:ea typeface="+mn-lt"/>
                <a:cs typeface="+mn-lt"/>
              </a:rPr>
              <a:t>:</a:t>
            </a:r>
            <a:endParaRPr lang="pt-BR" sz="2000" dirty="0"/>
          </a:p>
          <a:p>
            <a:pPr lvl="3" algn="just"/>
            <a:r>
              <a:rPr lang="pt-BR" sz="2000" b="1" dirty="0" err="1">
                <a:ea typeface="+mn-lt"/>
                <a:cs typeface="+mn-lt"/>
              </a:rPr>
              <a:t>DataFrame</a:t>
            </a:r>
            <a:r>
              <a:rPr lang="pt-BR" sz="2000" dirty="0">
                <a:ea typeface="+mn-lt"/>
                <a:cs typeface="+mn-lt"/>
              </a:rPr>
              <a:t>: Estrutura bidimensional, semelhante a uma tabela, com rotulação de linhas e colunas.</a:t>
            </a:r>
            <a:endParaRPr lang="pt-BR" sz="2000" dirty="0"/>
          </a:p>
          <a:p>
            <a:pPr lvl="3" algn="just"/>
            <a:r>
              <a:rPr lang="pt-BR" sz="2000" b="1" dirty="0">
                <a:ea typeface="+mn-lt"/>
                <a:cs typeface="+mn-lt"/>
              </a:rPr>
              <a:t>Series</a:t>
            </a:r>
            <a:r>
              <a:rPr lang="pt-BR" sz="2000" dirty="0">
                <a:ea typeface="+mn-lt"/>
                <a:cs typeface="+mn-lt"/>
              </a:rPr>
              <a:t>: Vetor unidimensional, semelhante a uma coluna em uma tabela.</a:t>
            </a:r>
            <a:endParaRPr lang="pt-BR" sz="2000" dirty="0"/>
          </a:p>
          <a:p>
            <a:pPr lvl="2" algn="just">
              <a:buFont typeface="Wingdings" panose="020B0604020202020204" pitchFamily="34" charset="0"/>
              <a:buChar char="§"/>
            </a:pPr>
            <a:r>
              <a:rPr lang="pt-BR" sz="2000" b="1" dirty="0">
                <a:ea typeface="+mn-lt"/>
                <a:cs typeface="+mn-lt"/>
              </a:rPr>
              <a:t>Manipulação de Dados</a:t>
            </a:r>
            <a:r>
              <a:rPr lang="pt-BR" sz="2000" dirty="0">
                <a:ea typeface="+mn-lt"/>
                <a:cs typeface="+mn-lt"/>
              </a:rPr>
              <a:t>:</a:t>
            </a:r>
            <a:endParaRPr lang="pt-BR" sz="2000" dirty="0"/>
          </a:p>
          <a:p>
            <a:pPr lvl="3" algn="just">
              <a:buFont typeface="Arial" panose="020B0604020202020204" pitchFamily="34" charset="0"/>
              <a:buChar char="•"/>
            </a:pPr>
            <a:r>
              <a:rPr lang="pt-BR" sz="2000" b="1" dirty="0">
                <a:ea typeface="+mn-lt"/>
                <a:cs typeface="+mn-lt"/>
              </a:rPr>
              <a:t>Leitura e Escrita</a:t>
            </a:r>
            <a:r>
              <a:rPr lang="pt-BR" sz="2000" dirty="0">
                <a:ea typeface="+mn-lt"/>
                <a:cs typeface="+mn-lt"/>
              </a:rPr>
              <a:t>: Suporta leitura e escrita de vários formatos de dados, como CSV, Excel, SQL, e JSON.</a:t>
            </a:r>
            <a:endParaRPr lang="pt-BR" sz="2000" dirty="0"/>
          </a:p>
          <a:p>
            <a:pPr lvl="3" algn="just"/>
            <a:r>
              <a:rPr lang="pt-BR" sz="2000" b="1" dirty="0">
                <a:ea typeface="+mn-lt"/>
                <a:cs typeface="+mn-lt"/>
              </a:rPr>
              <a:t>Indexação e Seleção</a:t>
            </a:r>
            <a:r>
              <a:rPr lang="pt-BR" sz="2000" dirty="0">
                <a:ea typeface="+mn-lt"/>
                <a:cs typeface="+mn-lt"/>
              </a:rPr>
              <a:t>: Oferece formas flexíveis para selecionar, filtrar e agrupar dados.</a:t>
            </a:r>
            <a:endParaRPr lang="pt-BR" sz="2000" dirty="0"/>
          </a:p>
          <a:p>
            <a:pPr lvl="3" algn="just"/>
            <a:r>
              <a:rPr lang="pt-BR" sz="2000" b="1" dirty="0">
                <a:ea typeface="+mn-lt"/>
                <a:cs typeface="+mn-lt"/>
              </a:rPr>
              <a:t>Manipulação e Limpeza</a:t>
            </a:r>
            <a:r>
              <a:rPr lang="pt-BR" sz="2000" dirty="0">
                <a:ea typeface="+mn-lt"/>
                <a:cs typeface="+mn-lt"/>
              </a:rPr>
              <a:t>: Ferramentas para tratar dados ausentes, duplicatas e conversão de tipos de dados.</a:t>
            </a:r>
            <a:endParaRPr lang="pt-BR" sz="2000" dirty="0"/>
          </a:p>
          <a:p>
            <a:pPr lvl="1" algn="just">
              <a:buFont typeface="Courier New" panose="020B0604020202020204" pitchFamily="34" charset="0"/>
              <a:buChar char="o"/>
            </a:pPr>
            <a:endParaRPr lang="pt-BR" dirty="0"/>
          </a:p>
        </p:txBody>
      </p:sp>
      <p:sp>
        <p:nvSpPr>
          <p:cNvPr id="4" name="Espaço Reservado para Data 3">
            <a:extLst>
              <a:ext uri="{FF2B5EF4-FFF2-40B4-BE49-F238E27FC236}">
                <a16:creationId xmlns:a16="http://schemas.microsoft.com/office/drawing/2014/main" id="{64CBCA20-D3A7-8C18-78BB-75CFD774D8A6}"/>
              </a:ext>
            </a:extLst>
          </p:cNvPr>
          <p:cNvSpPr>
            <a:spLocks noGrp="1"/>
          </p:cNvSpPr>
          <p:nvPr>
            <p:ph type="dt" sz="half" idx="10"/>
          </p:nvPr>
        </p:nvSpPr>
        <p:spPr/>
        <p:txBody>
          <a:bodyPr/>
          <a:lstStyle/>
          <a:p>
            <a:fld id="{7F6ED6A3-40DC-4193-A910-872C5B000C0A}" type="datetime1">
              <a:t>11/08/2026</a:t>
            </a:fld>
            <a:endParaRPr lang="en-US"/>
          </a:p>
        </p:txBody>
      </p:sp>
      <p:sp>
        <p:nvSpPr>
          <p:cNvPr id="5" name="Espaço Reservado para Rodapé 4">
            <a:extLst>
              <a:ext uri="{FF2B5EF4-FFF2-40B4-BE49-F238E27FC236}">
                <a16:creationId xmlns:a16="http://schemas.microsoft.com/office/drawing/2014/main" id="{C3524C3B-DA9A-1017-D094-2202D2D58711}"/>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466E7F72-03DD-4B1B-ECEC-BD726A31B1A7}"/>
              </a:ext>
            </a:extLst>
          </p:cNvPr>
          <p:cNvSpPr>
            <a:spLocks noGrp="1"/>
          </p:cNvSpPr>
          <p:nvPr>
            <p:ph type="sldNum" sz="quarter" idx="12"/>
          </p:nvPr>
        </p:nvSpPr>
        <p:spPr/>
        <p:txBody>
          <a:bodyPr/>
          <a:lstStyle/>
          <a:p>
            <a:fld id="{E30AF5A0-43BB-4336-8627-9123B9144D80}" type="slidenum">
              <a:rPr lang="en-US" dirty="0"/>
              <a:t>16</a:t>
            </a:fld>
            <a:endParaRPr lang="en-US"/>
          </a:p>
        </p:txBody>
      </p:sp>
    </p:spTree>
    <p:extLst>
      <p:ext uri="{BB962C8B-B14F-4D97-AF65-F5344CB8AC3E}">
        <p14:creationId xmlns:p14="http://schemas.microsoft.com/office/powerpoint/2010/main" val="2436349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055FB-618D-D16E-140E-72B788A8BFD5}"/>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5DF44FF1-5DB0-3132-A0A5-E427471FE913}"/>
              </a:ext>
            </a:extLst>
          </p:cNvPr>
          <p:cNvSpPr>
            <a:spLocks noGrp="1"/>
          </p:cNvSpPr>
          <p:nvPr>
            <p:ph idx="1"/>
          </p:nvPr>
        </p:nvSpPr>
        <p:spPr>
          <a:xfrm>
            <a:off x="700635" y="1966586"/>
            <a:ext cx="10691265" cy="3962628"/>
          </a:xfrm>
        </p:spPr>
        <p:txBody>
          <a:bodyPr vert="horz" lIns="91440" tIns="45720" rIns="91440" bIns="45720" rtlCol="0" anchor="t">
            <a:normAutofit/>
          </a:bodyPr>
          <a:lstStyle/>
          <a:p>
            <a:pPr marL="342900" indent="-342900" algn="just"/>
            <a:r>
              <a:rPr lang="pt-BR" sz="2000" b="1" dirty="0" err="1"/>
              <a:t>Numpy</a:t>
            </a:r>
            <a:r>
              <a:rPr lang="pt-BR" sz="2000" dirty="0"/>
              <a:t>: é</a:t>
            </a:r>
            <a:r>
              <a:rPr lang="pt-BR" sz="2000" dirty="0">
                <a:ea typeface="+mn-lt"/>
                <a:cs typeface="+mn-lt"/>
              </a:rPr>
              <a:t> uma biblioteca fundamental para a computação científica em Python. Ela fornece suporte para </a:t>
            </a:r>
            <a:r>
              <a:rPr lang="pt-BR" sz="2000" dirty="0" err="1">
                <a:ea typeface="+mn-lt"/>
                <a:cs typeface="+mn-lt"/>
              </a:rPr>
              <a:t>arrays</a:t>
            </a:r>
            <a:r>
              <a:rPr lang="pt-BR" sz="2000" dirty="0">
                <a:ea typeface="+mn-lt"/>
                <a:cs typeface="+mn-lt"/>
              </a:rPr>
              <a:t> e matrizes multidimensionais, além de diversas funções matemáticas para operar nesses </a:t>
            </a:r>
            <a:r>
              <a:rPr lang="pt-BR" sz="2000" dirty="0" err="1">
                <a:ea typeface="+mn-lt"/>
                <a:cs typeface="+mn-lt"/>
              </a:rPr>
              <a:t>arrays</a:t>
            </a:r>
            <a:r>
              <a:rPr lang="pt-BR" sz="2000" dirty="0">
                <a:ea typeface="+mn-lt"/>
                <a:cs typeface="+mn-lt"/>
              </a:rPr>
              <a:t>. É uma ferramenta essencial para a análise de dados e aprendizado de máquina devido à sua eficiência e facilidade de uso.</a:t>
            </a:r>
            <a:endParaRPr lang="pt-BR" sz="2000" dirty="0"/>
          </a:p>
        </p:txBody>
      </p:sp>
      <p:sp>
        <p:nvSpPr>
          <p:cNvPr id="4" name="Espaço Reservado para Data 3">
            <a:extLst>
              <a:ext uri="{FF2B5EF4-FFF2-40B4-BE49-F238E27FC236}">
                <a16:creationId xmlns:a16="http://schemas.microsoft.com/office/drawing/2014/main" id="{24F0CE26-FEBA-A1F9-E3A2-7EEE73349DFB}"/>
              </a:ext>
            </a:extLst>
          </p:cNvPr>
          <p:cNvSpPr>
            <a:spLocks noGrp="1"/>
          </p:cNvSpPr>
          <p:nvPr>
            <p:ph type="dt" sz="half" idx="10"/>
          </p:nvPr>
        </p:nvSpPr>
        <p:spPr/>
        <p:txBody>
          <a:bodyPr/>
          <a:lstStyle/>
          <a:p>
            <a:fld id="{D1D6070D-39EB-4CFC-865E-CE7CA962688F}" type="datetime1">
              <a:t>11/08/2026</a:t>
            </a:fld>
            <a:endParaRPr lang="en-US"/>
          </a:p>
        </p:txBody>
      </p:sp>
      <p:sp>
        <p:nvSpPr>
          <p:cNvPr id="5" name="Espaço Reservado para Rodapé 4">
            <a:extLst>
              <a:ext uri="{FF2B5EF4-FFF2-40B4-BE49-F238E27FC236}">
                <a16:creationId xmlns:a16="http://schemas.microsoft.com/office/drawing/2014/main" id="{07235982-CC21-96E6-9677-C2C10C5685EE}"/>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BFE7A872-1732-265A-EAA0-0E3518C73189}"/>
              </a:ext>
            </a:extLst>
          </p:cNvPr>
          <p:cNvSpPr>
            <a:spLocks noGrp="1"/>
          </p:cNvSpPr>
          <p:nvPr>
            <p:ph type="sldNum" sz="quarter" idx="12"/>
          </p:nvPr>
        </p:nvSpPr>
        <p:spPr/>
        <p:txBody>
          <a:bodyPr/>
          <a:lstStyle/>
          <a:p>
            <a:fld id="{E30AF5A0-43BB-4336-8627-9123B9144D80}" type="slidenum">
              <a:rPr lang="en-US" dirty="0"/>
              <a:t>17</a:t>
            </a:fld>
            <a:endParaRPr lang="en-US"/>
          </a:p>
        </p:txBody>
      </p:sp>
    </p:spTree>
    <p:extLst>
      <p:ext uri="{BB962C8B-B14F-4D97-AF65-F5344CB8AC3E}">
        <p14:creationId xmlns:p14="http://schemas.microsoft.com/office/powerpoint/2010/main" val="3899794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71C58-8897-9D8A-E677-AC8DCA69F174}"/>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7F2FCCC9-A62C-D358-F532-BD9C6888AB5A}"/>
              </a:ext>
            </a:extLst>
          </p:cNvPr>
          <p:cNvSpPr>
            <a:spLocks noGrp="1"/>
          </p:cNvSpPr>
          <p:nvPr>
            <p:ph idx="1"/>
          </p:nvPr>
        </p:nvSpPr>
        <p:spPr/>
        <p:txBody>
          <a:bodyPr vert="horz" lIns="91440" tIns="45720" rIns="91440" bIns="45720" rtlCol="0" anchor="t">
            <a:normAutofit/>
          </a:bodyPr>
          <a:lstStyle/>
          <a:p>
            <a:pPr algn="just"/>
            <a:r>
              <a:rPr lang="pt-BR" b="1" dirty="0" err="1"/>
              <a:t>SciPy</a:t>
            </a:r>
            <a:r>
              <a:rPr lang="pt-BR" dirty="0"/>
              <a:t> é uma biblioteca de código aberto em Python utilizada para computação científica e técnica. Ela é construída sobre a biblioteca </a:t>
            </a:r>
            <a:r>
              <a:rPr lang="pt-BR" dirty="0" err="1"/>
              <a:t>NumPy</a:t>
            </a:r>
            <a:r>
              <a:rPr lang="pt-BR" dirty="0"/>
              <a:t> e oferece funcionalidades adicionais para matemática avançada, ciência e engenharia. </a:t>
            </a:r>
            <a:r>
              <a:rPr lang="pt-BR" dirty="0" err="1"/>
              <a:t>SciPy</a:t>
            </a:r>
            <a:r>
              <a:rPr lang="pt-BR" dirty="0"/>
              <a:t> fornece módulos para otimização, integração, interpolação, álgebra linear, estatística, e muito mais.</a:t>
            </a:r>
            <a:endParaRPr lang="pt-BR" b="1" dirty="0"/>
          </a:p>
        </p:txBody>
      </p:sp>
      <p:sp>
        <p:nvSpPr>
          <p:cNvPr id="4" name="Espaço Reservado para Data 3">
            <a:extLst>
              <a:ext uri="{FF2B5EF4-FFF2-40B4-BE49-F238E27FC236}">
                <a16:creationId xmlns:a16="http://schemas.microsoft.com/office/drawing/2014/main" id="{FD0FEDF2-97D0-15E2-83F9-5464DC8FC9C1}"/>
              </a:ext>
            </a:extLst>
          </p:cNvPr>
          <p:cNvSpPr>
            <a:spLocks noGrp="1"/>
          </p:cNvSpPr>
          <p:nvPr>
            <p:ph type="dt" sz="half" idx="10"/>
          </p:nvPr>
        </p:nvSpPr>
        <p:spPr/>
        <p:txBody>
          <a:bodyPr/>
          <a:lstStyle/>
          <a:p>
            <a:fld id="{1C18B6F9-FAC7-4BFA-81FF-857AECA1E5DE}" type="datetime1">
              <a:t>11/08/2026</a:t>
            </a:fld>
            <a:endParaRPr lang="en-US"/>
          </a:p>
        </p:txBody>
      </p:sp>
      <p:sp>
        <p:nvSpPr>
          <p:cNvPr id="5" name="Espaço Reservado para Rodapé 4">
            <a:extLst>
              <a:ext uri="{FF2B5EF4-FFF2-40B4-BE49-F238E27FC236}">
                <a16:creationId xmlns:a16="http://schemas.microsoft.com/office/drawing/2014/main" id="{4C78AA1C-C1B6-041B-043C-B9F948217435}"/>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BC2B2D11-6F10-FDAE-7B4C-22383A36CDE3}"/>
              </a:ext>
            </a:extLst>
          </p:cNvPr>
          <p:cNvSpPr>
            <a:spLocks noGrp="1"/>
          </p:cNvSpPr>
          <p:nvPr>
            <p:ph type="sldNum" sz="quarter" idx="12"/>
          </p:nvPr>
        </p:nvSpPr>
        <p:spPr/>
        <p:txBody>
          <a:bodyPr/>
          <a:lstStyle/>
          <a:p>
            <a:fld id="{E30AF5A0-43BB-4336-8627-9123B9144D80}" type="slidenum">
              <a:rPr lang="en-US" dirty="0"/>
              <a:t>18</a:t>
            </a:fld>
            <a:endParaRPr lang="en-US"/>
          </a:p>
        </p:txBody>
      </p:sp>
    </p:spTree>
    <p:extLst>
      <p:ext uri="{BB962C8B-B14F-4D97-AF65-F5344CB8AC3E}">
        <p14:creationId xmlns:p14="http://schemas.microsoft.com/office/powerpoint/2010/main" val="299858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D0EB37-4AAB-FC92-BA17-907A3AB4D2B9}"/>
              </a:ext>
            </a:extLst>
          </p:cNvPr>
          <p:cNvSpPr>
            <a:spLocks noGrp="1"/>
          </p:cNvSpPr>
          <p:nvPr>
            <p:ph type="title"/>
          </p:nvPr>
        </p:nvSpPr>
        <p:spPr/>
        <p:txBody>
          <a:bodyPr/>
          <a:lstStyle/>
          <a:p>
            <a:r>
              <a:rPr lang="pt-BR"/>
              <a:t>Introdução ao Google </a:t>
            </a:r>
            <a:r>
              <a:rPr lang="pt-BR" err="1"/>
              <a:t>Colab</a:t>
            </a:r>
          </a:p>
        </p:txBody>
      </p:sp>
      <p:sp>
        <p:nvSpPr>
          <p:cNvPr id="3" name="Espaço Reservado para Conteúdo 2">
            <a:extLst>
              <a:ext uri="{FF2B5EF4-FFF2-40B4-BE49-F238E27FC236}">
                <a16:creationId xmlns:a16="http://schemas.microsoft.com/office/drawing/2014/main" id="{3D90EC30-29E1-1FDB-D092-E02DEA6882DD}"/>
              </a:ext>
            </a:extLst>
          </p:cNvPr>
          <p:cNvSpPr>
            <a:spLocks noGrp="1"/>
          </p:cNvSpPr>
          <p:nvPr>
            <p:ph idx="1"/>
          </p:nvPr>
        </p:nvSpPr>
        <p:spPr/>
        <p:txBody>
          <a:bodyPr vert="horz" lIns="91440" tIns="45720" rIns="91440" bIns="45720" rtlCol="0" anchor="t">
            <a:normAutofit/>
          </a:bodyPr>
          <a:lstStyle/>
          <a:p>
            <a:r>
              <a:rPr lang="pt-BR" sz="2400" b="1"/>
              <a:t>Configurando o Google </a:t>
            </a:r>
            <a:r>
              <a:rPr lang="pt-BR" sz="2400" b="1" err="1"/>
              <a:t>Colab</a:t>
            </a:r>
            <a:endParaRPr lang="pt-BR" sz="2400" b="1"/>
          </a:p>
          <a:p>
            <a:pPr lvl="1">
              <a:buFont typeface=""/>
              <a:buChar char="•"/>
            </a:pPr>
            <a:r>
              <a:rPr lang="pt-BR" sz="2400" b="1" dirty="0"/>
              <a:t>Acesso</a:t>
            </a:r>
            <a:r>
              <a:rPr lang="pt-BR" sz="2400" dirty="0"/>
              <a:t>: Vá para Google </a:t>
            </a:r>
            <a:r>
              <a:rPr lang="pt-BR" sz="2400" dirty="0" err="1"/>
              <a:t>Colab</a:t>
            </a:r>
            <a:r>
              <a:rPr lang="pt-BR" sz="2400" dirty="0"/>
              <a:t>: </a:t>
            </a:r>
            <a:r>
              <a:rPr lang="pt-BR" sz="2400" dirty="0">
                <a:ea typeface="+mn-lt"/>
                <a:cs typeface="+mn-lt"/>
              </a:rPr>
              <a:t>https://colab.research.google.com/</a:t>
            </a:r>
            <a:endParaRPr lang="pt-BR" sz="2400" dirty="0"/>
          </a:p>
          <a:p>
            <a:pPr lvl="1">
              <a:buFont typeface=""/>
              <a:buChar char="•"/>
            </a:pPr>
            <a:r>
              <a:rPr lang="pt-BR" sz="2400" b="1"/>
              <a:t>Login</a:t>
            </a:r>
            <a:r>
              <a:rPr lang="pt-BR" sz="2400"/>
              <a:t>: Use sua conta Google.</a:t>
            </a:r>
          </a:p>
          <a:p>
            <a:pPr lvl="1" indent="-228600">
              <a:buFont typeface=""/>
              <a:buChar char="•"/>
            </a:pPr>
            <a:r>
              <a:rPr lang="pt-BR" sz="2400" b="1"/>
              <a:t>Criar Novo Notebook</a:t>
            </a:r>
            <a:r>
              <a:rPr lang="pt-BR" sz="2400"/>
              <a:t>:</a:t>
            </a:r>
          </a:p>
          <a:p>
            <a:pPr marL="1143000" lvl="3" indent="-228600">
              <a:buFont typeface="Arial"/>
              <a:buChar char="•"/>
            </a:pPr>
            <a:r>
              <a:rPr lang="pt-BR" sz="2400"/>
              <a:t>Clique em "File" &gt; "New Notebook".</a:t>
            </a:r>
          </a:p>
          <a:p>
            <a:pPr marL="1143000" lvl="3" indent="-228600">
              <a:buFont typeface="Arial"/>
              <a:buChar char="•"/>
            </a:pPr>
            <a:r>
              <a:rPr lang="pt-BR" sz="2400"/>
              <a:t>Nomeie seu notebook.</a:t>
            </a:r>
          </a:p>
        </p:txBody>
      </p:sp>
    </p:spTree>
    <p:extLst>
      <p:ext uri="{BB962C8B-B14F-4D97-AF65-F5344CB8AC3E}">
        <p14:creationId xmlns:p14="http://schemas.microsoft.com/office/powerpoint/2010/main" val="2247622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47C8D3-439A-5160-1AB7-3C866B69AC4F}"/>
              </a:ext>
            </a:extLst>
          </p:cNvPr>
          <p:cNvSpPr>
            <a:spLocks noGrp="1"/>
          </p:cNvSpPr>
          <p:nvPr>
            <p:ph type="title"/>
          </p:nvPr>
        </p:nvSpPr>
        <p:spPr/>
        <p:txBody>
          <a:bodyPr/>
          <a:lstStyle/>
          <a:p>
            <a:r>
              <a:rPr lang="pt-BR" sz="4000" cap="all" baseline="0" dirty="0">
                <a:latin typeface="Univers Condensed"/>
              </a:rPr>
              <a:t>Introdução ao google </a:t>
            </a:r>
            <a:r>
              <a:rPr lang="pt-BR" sz="4000" cap="all" baseline="0" dirty="0" err="1">
                <a:latin typeface="Univers Condensed"/>
              </a:rPr>
              <a:t>Colab</a:t>
            </a:r>
            <a:r>
              <a:rPr lang="pt-BR" dirty="0">
                <a:latin typeface="Univers Condensed"/>
              </a:rPr>
              <a:t> – Alterar nome do notebook</a:t>
            </a:r>
            <a:endParaRPr lang="pt-BR" dirty="0"/>
          </a:p>
        </p:txBody>
      </p:sp>
      <p:pic>
        <p:nvPicPr>
          <p:cNvPr id="7" name="Espaço Reservado para Conteúdo 6" descr="Interface gráfica do usuário, Texto, Aplicativo, Email&#10;&#10;Descrição gerada automaticamente">
            <a:extLst>
              <a:ext uri="{FF2B5EF4-FFF2-40B4-BE49-F238E27FC236}">
                <a16:creationId xmlns:a16="http://schemas.microsoft.com/office/drawing/2014/main" id="{EDF1EC31-2449-8DEA-4D7E-C516B367CFB5}"/>
              </a:ext>
            </a:extLst>
          </p:cNvPr>
          <p:cNvPicPr>
            <a:picLocks noGrp="1" noChangeAspect="1"/>
          </p:cNvPicPr>
          <p:nvPr>
            <p:ph idx="1"/>
          </p:nvPr>
        </p:nvPicPr>
        <p:blipFill>
          <a:blip r:embed="rId3"/>
          <a:stretch>
            <a:fillRect/>
          </a:stretch>
        </p:blipFill>
        <p:spPr>
          <a:xfrm>
            <a:off x="1391377" y="2292198"/>
            <a:ext cx="9657181" cy="3839224"/>
          </a:xfrm>
        </p:spPr>
      </p:pic>
      <p:sp>
        <p:nvSpPr>
          <p:cNvPr id="4" name="Espaço Reservado para Data 3">
            <a:extLst>
              <a:ext uri="{FF2B5EF4-FFF2-40B4-BE49-F238E27FC236}">
                <a16:creationId xmlns:a16="http://schemas.microsoft.com/office/drawing/2014/main" id="{5BCBF552-9892-3B2E-46D9-C7C7842834C4}"/>
              </a:ext>
            </a:extLst>
          </p:cNvPr>
          <p:cNvSpPr>
            <a:spLocks noGrp="1"/>
          </p:cNvSpPr>
          <p:nvPr>
            <p:ph type="dt" sz="half" idx="10"/>
          </p:nvPr>
        </p:nvSpPr>
        <p:spPr/>
        <p:txBody>
          <a:bodyPr/>
          <a:lstStyle/>
          <a:p>
            <a:fld id="{6B228A85-07E1-4164-B523-376658294513}" type="datetime1">
              <a:t>11/08/2026</a:t>
            </a:fld>
            <a:endParaRPr lang="en-US"/>
          </a:p>
        </p:txBody>
      </p:sp>
      <p:sp>
        <p:nvSpPr>
          <p:cNvPr id="5" name="Espaço Reservado para Rodapé 4">
            <a:extLst>
              <a:ext uri="{FF2B5EF4-FFF2-40B4-BE49-F238E27FC236}">
                <a16:creationId xmlns:a16="http://schemas.microsoft.com/office/drawing/2014/main" id="{8CC9A47A-3335-C5B1-1402-7989160A79C7}"/>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912C24BF-B2E3-6FE5-8C50-02C1C0947E51}"/>
              </a:ext>
            </a:extLst>
          </p:cNvPr>
          <p:cNvSpPr>
            <a:spLocks noGrp="1"/>
          </p:cNvSpPr>
          <p:nvPr>
            <p:ph type="sldNum" sz="quarter" idx="12"/>
          </p:nvPr>
        </p:nvSpPr>
        <p:spPr/>
        <p:txBody>
          <a:bodyPr/>
          <a:lstStyle/>
          <a:p>
            <a:fld id="{E30AF5A0-43BB-4336-8627-9123B9144D80}" type="slidenum">
              <a:rPr lang="en-US" dirty="0"/>
              <a:t>20</a:t>
            </a:fld>
            <a:endParaRPr lang="en-US"/>
          </a:p>
        </p:txBody>
      </p:sp>
    </p:spTree>
    <p:extLst>
      <p:ext uri="{BB962C8B-B14F-4D97-AF65-F5344CB8AC3E}">
        <p14:creationId xmlns:p14="http://schemas.microsoft.com/office/powerpoint/2010/main" val="3818114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6488F1-EB4A-C423-1671-2C0D38802787}"/>
              </a:ext>
            </a:extLst>
          </p:cNvPr>
          <p:cNvSpPr>
            <a:spLocks noGrp="1"/>
          </p:cNvSpPr>
          <p:nvPr>
            <p:ph type="title"/>
          </p:nvPr>
        </p:nvSpPr>
        <p:spPr/>
        <p:txBody>
          <a:bodyPr/>
          <a:lstStyle/>
          <a:p>
            <a:r>
              <a:rPr lang="pt-BR" sz="4000" cap="all" baseline="0" dirty="0">
                <a:latin typeface="Univers Condensed"/>
              </a:rPr>
              <a:t>Introdução ao google </a:t>
            </a:r>
            <a:r>
              <a:rPr lang="pt-BR" sz="4000" cap="all" baseline="0" dirty="0" err="1">
                <a:latin typeface="Univers Condensed"/>
              </a:rPr>
              <a:t>Colab</a:t>
            </a:r>
            <a:r>
              <a:rPr lang="pt-BR" sz="4000" cap="all" baseline="0" dirty="0">
                <a:latin typeface="Univers Condensed"/>
              </a:rPr>
              <a:t> – Alterar nome</a:t>
            </a:r>
            <a:r>
              <a:rPr lang="pt-BR" dirty="0">
                <a:latin typeface="Univers Condensed"/>
              </a:rPr>
              <a:t> do notebook</a:t>
            </a:r>
            <a:endParaRPr lang="pt-BR" dirty="0"/>
          </a:p>
        </p:txBody>
      </p:sp>
      <p:pic>
        <p:nvPicPr>
          <p:cNvPr id="7" name="Espaço Reservado para Conteúdo 6" descr="Interface gráfica do usuário, Texto, Aplicativo, Email&#10;&#10;Descrição gerada automaticamente">
            <a:extLst>
              <a:ext uri="{FF2B5EF4-FFF2-40B4-BE49-F238E27FC236}">
                <a16:creationId xmlns:a16="http://schemas.microsoft.com/office/drawing/2014/main" id="{8A505552-DDB4-4E61-FB91-A47F5111D1B9}"/>
              </a:ext>
            </a:extLst>
          </p:cNvPr>
          <p:cNvPicPr>
            <a:picLocks noGrp="1" noChangeAspect="1"/>
          </p:cNvPicPr>
          <p:nvPr>
            <p:ph idx="1"/>
          </p:nvPr>
        </p:nvPicPr>
        <p:blipFill>
          <a:blip r:embed="rId2"/>
          <a:stretch>
            <a:fillRect/>
          </a:stretch>
        </p:blipFill>
        <p:spPr>
          <a:xfrm>
            <a:off x="1109337" y="2535460"/>
            <a:ext cx="9976496" cy="3491471"/>
          </a:xfrm>
        </p:spPr>
      </p:pic>
      <p:sp>
        <p:nvSpPr>
          <p:cNvPr id="4" name="Espaço Reservado para Data 3">
            <a:extLst>
              <a:ext uri="{FF2B5EF4-FFF2-40B4-BE49-F238E27FC236}">
                <a16:creationId xmlns:a16="http://schemas.microsoft.com/office/drawing/2014/main" id="{6F973868-70FF-7313-9A0E-98756BD3BEC6}"/>
              </a:ext>
            </a:extLst>
          </p:cNvPr>
          <p:cNvSpPr>
            <a:spLocks noGrp="1"/>
          </p:cNvSpPr>
          <p:nvPr>
            <p:ph type="dt" sz="half" idx="10"/>
          </p:nvPr>
        </p:nvSpPr>
        <p:spPr/>
        <p:txBody>
          <a:bodyPr/>
          <a:lstStyle/>
          <a:p>
            <a:fld id="{1422152A-7F03-4871-8052-00C158157CF8}" type="datetime1">
              <a:t>11/08/2026</a:t>
            </a:fld>
            <a:endParaRPr lang="en-US"/>
          </a:p>
        </p:txBody>
      </p:sp>
      <p:sp>
        <p:nvSpPr>
          <p:cNvPr id="5" name="Espaço Reservado para Rodapé 4">
            <a:extLst>
              <a:ext uri="{FF2B5EF4-FFF2-40B4-BE49-F238E27FC236}">
                <a16:creationId xmlns:a16="http://schemas.microsoft.com/office/drawing/2014/main" id="{0ADB4F35-0ADE-EB06-DD7B-0219D4F38293}"/>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5E93EFAF-246A-55A5-4622-40F49634160E}"/>
              </a:ext>
            </a:extLst>
          </p:cNvPr>
          <p:cNvSpPr>
            <a:spLocks noGrp="1"/>
          </p:cNvSpPr>
          <p:nvPr>
            <p:ph type="sldNum" sz="quarter" idx="12"/>
          </p:nvPr>
        </p:nvSpPr>
        <p:spPr/>
        <p:txBody>
          <a:bodyPr/>
          <a:lstStyle/>
          <a:p>
            <a:fld id="{E30AF5A0-43BB-4336-8627-9123B9144D80}" type="slidenum">
              <a:rPr lang="en-US" dirty="0"/>
              <a:t>21</a:t>
            </a:fld>
            <a:endParaRPr lang="en-US"/>
          </a:p>
        </p:txBody>
      </p:sp>
    </p:spTree>
    <p:extLst>
      <p:ext uri="{BB962C8B-B14F-4D97-AF65-F5344CB8AC3E}">
        <p14:creationId xmlns:p14="http://schemas.microsoft.com/office/powerpoint/2010/main" val="3051711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33A7C4-47B4-A098-6DDA-EE7BF2C9306B}"/>
              </a:ext>
            </a:extLst>
          </p:cNvPr>
          <p:cNvSpPr>
            <a:spLocks noGrp="1"/>
          </p:cNvSpPr>
          <p:nvPr>
            <p:ph type="title"/>
          </p:nvPr>
        </p:nvSpPr>
        <p:spPr/>
        <p:txBody>
          <a:bodyPr/>
          <a:lstStyle/>
          <a:p>
            <a:r>
              <a:rPr lang="pt-BR"/>
              <a:t>Introdução ao Google </a:t>
            </a:r>
            <a:r>
              <a:rPr lang="pt-BR" err="1"/>
              <a:t>Colab</a:t>
            </a:r>
          </a:p>
        </p:txBody>
      </p:sp>
      <p:sp>
        <p:nvSpPr>
          <p:cNvPr id="3" name="Espaço Reservado para Conteúdo 2">
            <a:extLst>
              <a:ext uri="{FF2B5EF4-FFF2-40B4-BE49-F238E27FC236}">
                <a16:creationId xmlns:a16="http://schemas.microsoft.com/office/drawing/2014/main" id="{7DE00195-F617-8684-3645-AD33DC7177E0}"/>
              </a:ext>
            </a:extLst>
          </p:cNvPr>
          <p:cNvSpPr>
            <a:spLocks noGrp="1"/>
          </p:cNvSpPr>
          <p:nvPr>
            <p:ph idx="1"/>
          </p:nvPr>
        </p:nvSpPr>
        <p:spPr/>
        <p:txBody>
          <a:bodyPr vert="horz" lIns="91440" tIns="45720" rIns="91440" bIns="45720" rtlCol="0" anchor="t">
            <a:noAutofit/>
          </a:bodyPr>
          <a:lstStyle/>
          <a:p>
            <a:r>
              <a:rPr lang="pt-BR" sz="2400" b="1" dirty="0"/>
              <a:t>Executando Código no Google </a:t>
            </a:r>
            <a:r>
              <a:rPr lang="pt-BR" sz="2400" b="1" dirty="0" err="1"/>
              <a:t>Colab</a:t>
            </a:r>
            <a:endParaRPr lang="pt-BR" sz="2400" b="1" dirty="0"/>
          </a:p>
          <a:p>
            <a:pPr lvl="1" indent="-228600">
              <a:buFont typeface=""/>
              <a:buChar char="•"/>
            </a:pPr>
            <a:r>
              <a:rPr lang="pt-BR" sz="2400" b="1" dirty="0"/>
              <a:t>Células de Código</a:t>
            </a:r>
            <a:r>
              <a:rPr lang="pt-BR" sz="2400" dirty="0"/>
              <a:t>:</a:t>
            </a:r>
          </a:p>
          <a:p>
            <a:pPr marL="1143000" lvl="3" indent="-228600">
              <a:buFont typeface="Arial"/>
              <a:buChar char="•"/>
            </a:pPr>
            <a:r>
              <a:rPr lang="pt-BR" sz="2400" dirty="0"/>
              <a:t>Escreva seu código Python em células de código.</a:t>
            </a:r>
          </a:p>
          <a:p>
            <a:pPr marL="1143000" lvl="3" indent="-228600">
              <a:buFont typeface="Arial"/>
              <a:buChar char="•"/>
            </a:pPr>
            <a:r>
              <a:rPr lang="pt-BR" sz="2400" dirty="0"/>
              <a:t>Clique no ícone de play ou pressione Shift + </a:t>
            </a:r>
            <a:r>
              <a:rPr lang="pt-BR" sz="2400" dirty="0" err="1"/>
              <a:t>Enter</a:t>
            </a:r>
            <a:r>
              <a:rPr lang="pt-BR" sz="2400" dirty="0"/>
              <a:t> para executar.</a:t>
            </a:r>
          </a:p>
          <a:p>
            <a:pPr marL="1143000" lvl="3">
              <a:buFont typeface="Arial"/>
              <a:buChar char="•"/>
            </a:pPr>
            <a:endParaRPr lang="pt-BR" sz="2400"/>
          </a:p>
          <a:p>
            <a:pPr marL="1143000" lvl="3">
              <a:buFont typeface="Arial"/>
              <a:buChar char="•"/>
            </a:pPr>
            <a:r>
              <a:rPr lang="pt-BR" sz="2400" err="1">
                <a:ea typeface="+mn-lt"/>
                <a:cs typeface="+mn-lt"/>
              </a:rPr>
              <a:t>import</a:t>
            </a:r>
            <a:r>
              <a:rPr lang="pt-BR" sz="2400" dirty="0">
                <a:ea typeface="+mn-lt"/>
                <a:cs typeface="+mn-lt"/>
              </a:rPr>
              <a:t> </a:t>
            </a:r>
            <a:r>
              <a:rPr lang="pt-BR" sz="2400" err="1">
                <a:ea typeface="+mn-lt"/>
                <a:cs typeface="+mn-lt"/>
              </a:rPr>
              <a:t>numpy</a:t>
            </a:r>
            <a:r>
              <a:rPr lang="pt-BR" sz="2400" dirty="0">
                <a:ea typeface="+mn-lt"/>
                <a:cs typeface="+mn-lt"/>
              </a:rPr>
              <a:t> as </a:t>
            </a:r>
            <a:r>
              <a:rPr lang="pt-BR" sz="2400" err="1">
                <a:ea typeface="+mn-lt"/>
                <a:cs typeface="+mn-lt"/>
              </a:rPr>
              <a:t>np</a:t>
            </a:r>
            <a:r>
              <a:rPr lang="pt-BR" sz="2400" dirty="0">
                <a:ea typeface="+mn-lt"/>
                <a:cs typeface="+mn-lt"/>
              </a:rPr>
              <a:t> </a:t>
            </a:r>
          </a:p>
          <a:p>
            <a:pPr marL="1143000" lvl="3">
              <a:buFont typeface="Arial"/>
              <a:buChar char="•"/>
            </a:pPr>
            <a:r>
              <a:rPr lang="pt-BR" sz="2400" dirty="0">
                <a:ea typeface="+mn-lt"/>
                <a:cs typeface="+mn-lt"/>
              </a:rPr>
              <a:t>print(</a:t>
            </a:r>
            <a:r>
              <a:rPr lang="pt-BR" sz="2400" dirty="0" err="1">
                <a:ea typeface="+mn-lt"/>
                <a:cs typeface="+mn-lt"/>
              </a:rPr>
              <a:t>np</a:t>
            </a:r>
            <a:r>
              <a:rPr lang="pt-BR" sz="2400" dirty="0">
                <a:ea typeface="+mn-lt"/>
                <a:cs typeface="+mn-lt"/>
              </a:rPr>
              <a:t>.__</a:t>
            </a:r>
            <a:r>
              <a:rPr lang="pt-BR" sz="2400" dirty="0" err="1">
                <a:ea typeface="+mn-lt"/>
                <a:cs typeface="+mn-lt"/>
              </a:rPr>
              <a:t>version</a:t>
            </a:r>
            <a:r>
              <a:rPr lang="pt-BR" sz="2400" dirty="0">
                <a:ea typeface="+mn-lt"/>
                <a:cs typeface="+mn-lt"/>
              </a:rPr>
              <a:t>__)</a:t>
            </a:r>
            <a:endParaRPr lang="pt-BR" dirty="0"/>
          </a:p>
        </p:txBody>
      </p:sp>
    </p:spTree>
    <p:extLst>
      <p:ext uri="{BB962C8B-B14F-4D97-AF65-F5344CB8AC3E}">
        <p14:creationId xmlns:p14="http://schemas.microsoft.com/office/powerpoint/2010/main" val="4246497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A268BB-01B8-7757-44C8-C14B1056E8F7}"/>
              </a:ext>
            </a:extLst>
          </p:cNvPr>
          <p:cNvSpPr>
            <a:spLocks noGrp="1"/>
          </p:cNvSpPr>
          <p:nvPr>
            <p:ph type="title"/>
          </p:nvPr>
        </p:nvSpPr>
        <p:spPr/>
        <p:txBody>
          <a:bodyPr/>
          <a:lstStyle/>
          <a:p>
            <a:r>
              <a:rPr lang="pt-BR" dirty="0"/>
              <a:t>Introdução ao google </a:t>
            </a:r>
            <a:r>
              <a:rPr lang="pt-BR" dirty="0" err="1"/>
              <a:t>colab</a:t>
            </a:r>
          </a:p>
        </p:txBody>
      </p:sp>
      <p:sp>
        <p:nvSpPr>
          <p:cNvPr id="4" name="Espaço Reservado para Data 3">
            <a:extLst>
              <a:ext uri="{FF2B5EF4-FFF2-40B4-BE49-F238E27FC236}">
                <a16:creationId xmlns:a16="http://schemas.microsoft.com/office/drawing/2014/main" id="{CDDA07D3-AA50-4644-FE3D-46EAC3CE6A23}"/>
              </a:ext>
            </a:extLst>
          </p:cNvPr>
          <p:cNvSpPr>
            <a:spLocks noGrp="1"/>
          </p:cNvSpPr>
          <p:nvPr>
            <p:ph type="dt" sz="half" idx="10"/>
          </p:nvPr>
        </p:nvSpPr>
        <p:spPr/>
        <p:txBody>
          <a:bodyPr/>
          <a:lstStyle/>
          <a:p>
            <a:fld id="{CD4A9D31-98AD-4FF1-937A-F6E8BE6AEC7D}" type="datetime1">
              <a:t>11/08/2026</a:t>
            </a:fld>
            <a:endParaRPr lang="en-US"/>
          </a:p>
        </p:txBody>
      </p:sp>
      <p:sp>
        <p:nvSpPr>
          <p:cNvPr id="5" name="Espaço Reservado para Rodapé 4">
            <a:extLst>
              <a:ext uri="{FF2B5EF4-FFF2-40B4-BE49-F238E27FC236}">
                <a16:creationId xmlns:a16="http://schemas.microsoft.com/office/drawing/2014/main" id="{8393DC92-4221-E490-AE10-4DE7ABCE8F37}"/>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C2E03791-CF09-70DA-99D1-177CABB0D4E4}"/>
              </a:ext>
            </a:extLst>
          </p:cNvPr>
          <p:cNvSpPr>
            <a:spLocks noGrp="1"/>
          </p:cNvSpPr>
          <p:nvPr>
            <p:ph type="sldNum" sz="quarter" idx="12"/>
          </p:nvPr>
        </p:nvSpPr>
        <p:spPr/>
        <p:txBody>
          <a:bodyPr/>
          <a:lstStyle/>
          <a:p>
            <a:fld id="{E30AF5A0-43BB-4336-8627-9123B9144D80}" type="slidenum">
              <a:rPr lang="en-US" dirty="0"/>
              <a:t>23</a:t>
            </a:fld>
            <a:endParaRPr lang="en-US"/>
          </a:p>
        </p:txBody>
      </p:sp>
      <p:pic>
        <p:nvPicPr>
          <p:cNvPr id="10" name="Espaço Reservado para Conteúdo 9" descr="Interface gráfica do usuário, Aplicativo&#10;&#10;Descrição gerada automaticamente">
            <a:extLst>
              <a:ext uri="{FF2B5EF4-FFF2-40B4-BE49-F238E27FC236}">
                <a16:creationId xmlns:a16="http://schemas.microsoft.com/office/drawing/2014/main" id="{B261FCA1-3EAF-9C43-B2EE-5FB7C9F2B03C}"/>
              </a:ext>
            </a:extLst>
          </p:cNvPr>
          <p:cNvPicPr>
            <a:picLocks noGrp="1" noChangeAspect="1"/>
          </p:cNvPicPr>
          <p:nvPr>
            <p:ph idx="1"/>
          </p:nvPr>
        </p:nvPicPr>
        <p:blipFill>
          <a:blip r:embed="rId2"/>
          <a:stretch>
            <a:fillRect/>
          </a:stretch>
        </p:blipFill>
        <p:spPr>
          <a:xfrm>
            <a:off x="564533" y="1942339"/>
            <a:ext cx="11188958" cy="3941110"/>
          </a:xfrm>
        </p:spPr>
      </p:pic>
    </p:spTree>
    <p:extLst>
      <p:ext uri="{BB962C8B-B14F-4D97-AF65-F5344CB8AC3E}">
        <p14:creationId xmlns:p14="http://schemas.microsoft.com/office/powerpoint/2010/main" val="1117915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D5F63D-BFEC-967F-889B-A3522D3355B6}"/>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58ADF8D3-98F4-DB9F-F9E8-1B9BC1838AEE}"/>
              </a:ext>
            </a:extLst>
          </p:cNvPr>
          <p:cNvSpPr>
            <a:spLocks noGrp="1"/>
          </p:cNvSpPr>
          <p:nvPr>
            <p:ph idx="1"/>
          </p:nvPr>
        </p:nvSpPr>
        <p:spPr>
          <a:xfrm>
            <a:off x="708410" y="1733290"/>
            <a:ext cx="10683490" cy="4195924"/>
          </a:xfrm>
        </p:spPr>
        <p:txBody>
          <a:bodyPr vert="horz" lIns="91440" tIns="45720" rIns="91440" bIns="45720" rtlCol="0" anchor="t">
            <a:normAutofit/>
          </a:bodyPr>
          <a:lstStyle/>
          <a:p>
            <a:r>
              <a:rPr lang="pt-BR" dirty="0" err="1"/>
              <a:t>Matplotlib</a:t>
            </a:r>
          </a:p>
        </p:txBody>
      </p:sp>
      <p:sp>
        <p:nvSpPr>
          <p:cNvPr id="4" name="Espaço Reservado para Data 3">
            <a:extLst>
              <a:ext uri="{FF2B5EF4-FFF2-40B4-BE49-F238E27FC236}">
                <a16:creationId xmlns:a16="http://schemas.microsoft.com/office/drawing/2014/main" id="{9A35D8BB-7A3F-9080-4106-D9C30D0B9780}"/>
              </a:ext>
            </a:extLst>
          </p:cNvPr>
          <p:cNvSpPr>
            <a:spLocks noGrp="1"/>
          </p:cNvSpPr>
          <p:nvPr>
            <p:ph type="dt" sz="half" idx="10"/>
          </p:nvPr>
        </p:nvSpPr>
        <p:spPr/>
        <p:txBody>
          <a:bodyPr/>
          <a:lstStyle/>
          <a:p>
            <a:fld id="{E518EDA5-AA98-4076-990F-E8EDB5549D0B}" type="datetime1">
              <a:t>11/08/2026</a:t>
            </a:fld>
            <a:endParaRPr lang="en-US"/>
          </a:p>
        </p:txBody>
      </p:sp>
      <p:sp>
        <p:nvSpPr>
          <p:cNvPr id="5" name="Espaço Reservado para Rodapé 4">
            <a:extLst>
              <a:ext uri="{FF2B5EF4-FFF2-40B4-BE49-F238E27FC236}">
                <a16:creationId xmlns:a16="http://schemas.microsoft.com/office/drawing/2014/main" id="{5A3E96D4-DEEC-4C3E-2ED3-F5C9C4A308B2}"/>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18BA4D84-C8A4-D6D4-5ACC-156C3A0FD578}"/>
              </a:ext>
            </a:extLst>
          </p:cNvPr>
          <p:cNvSpPr>
            <a:spLocks noGrp="1"/>
          </p:cNvSpPr>
          <p:nvPr>
            <p:ph type="sldNum" sz="quarter" idx="12"/>
          </p:nvPr>
        </p:nvSpPr>
        <p:spPr/>
        <p:txBody>
          <a:bodyPr/>
          <a:lstStyle/>
          <a:p>
            <a:fld id="{E30AF5A0-43BB-4336-8627-9123B9144D80}" type="slidenum">
              <a:rPr lang="en-US" dirty="0"/>
              <a:t>24</a:t>
            </a:fld>
            <a:endParaRPr lang="en-US"/>
          </a:p>
        </p:txBody>
      </p:sp>
      <p:pic>
        <p:nvPicPr>
          <p:cNvPr id="8" name="Imagem 7" descr="Interface gráfica do usuário, Texto, Aplicativo, Email&#10;&#10;Descrição gerada automaticamente">
            <a:extLst>
              <a:ext uri="{FF2B5EF4-FFF2-40B4-BE49-F238E27FC236}">
                <a16:creationId xmlns:a16="http://schemas.microsoft.com/office/drawing/2014/main" id="{6F9755B5-99BC-CD1C-4670-4897A07A34CF}"/>
              </a:ext>
            </a:extLst>
          </p:cNvPr>
          <p:cNvPicPr>
            <a:picLocks noChangeAspect="1"/>
          </p:cNvPicPr>
          <p:nvPr/>
        </p:nvPicPr>
        <p:blipFill>
          <a:blip r:embed="rId2"/>
          <a:stretch>
            <a:fillRect/>
          </a:stretch>
        </p:blipFill>
        <p:spPr>
          <a:xfrm>
            <a:off x="1267409" y="2291468"/>
            <a:ext cx="10185917" cy="3907921"/>
          </a:xfrm>
          <a:prstGeom prst="rect">
            <a:avLst/>
          </a:prstGeom>
        </p:spPr>
      </p:pic>
    </p:spTree>
    <p:extLst>
      <p:ext uri="{BB962C8B-B14F-4D97-AF65-F5344CB8AC3E}">
        <p14:creationId xmlns:p14="http://schemas.microsoft.com/office/powerpoint/2010/main" val="2233041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2D296-9A9D-39AD-45F9-D1943753BCC7}"/>
              </a:ext>
            </a:extLst>
          </p:cNvPr>
          <p:cNvSpPr>
            <a:spLocks noGrp="1"/>
          </p:cNvSpPr>
          <p:nvPr>
            <p:ph type="title"/>
          </p:nvPr>
        </p:nvSpPr>
        <p:spPr/>
        <p:txBody>
          <a:bodyPr/>
          <a:lstStyle/>
          <a:p>
            <a:r>
              <a:rPr lang="pt-BR" sz="4000" cap="all" baseline="0">
                <a:latin typeface="Univers Condensed"/>
              </a:rPr>
              <a:t>Introdução ao google Colab</a:t>
            </a:r>
            <a:endParaRPr lang="pt-BR"/>
          </a:p>
        </p:txBody>
      </p:sp>
      <p:pic>
        <p:nvPicPr>
          <p:cNvPr id="7" name="Espaço Reservado para Conteúdo 6" descr="Interface gráfica do usuário, Texto, Aplicativo, Email&#10;&#10;Descrição gerada automaticamente">
            <a:extLst>
              <a:ext uri="{FF2B5EF4-FFF2-40B4-BE49-F238E27FC236}">
                <a16:creationId xmlns:a16="http://schemas.microsoft.com/office/drawing/2014/main" id="{56849174-FED9-859C-7D84-D0F9EAEFD06E}"/>
              </a:ext>
            </a:extLst>
          </p:cNvPr>
          <p:cNvPicPr>
            <a:picLocks noGrp="1" noChangeAspect="1"/>
          </p:cNvPicPr>
          <p:nvPr>
            <p:ph idx="1"/>
          </p:nvPr>
        </p:nvPicPr>
        <p:blipFill>
          <a:blip r:embed="rId2"/>
          <a:stretch>
            <a:fillRect/>
          </a:stretch>
        </p:blipFill>
        <p:spPr>
          <a:xfrm>
            <a:off x="705665" y="1993024"/>
            <a:ext cx="11147294" cy="3983514"/>
          </a:xfrm>
        </p:spPr>
      </p:pic>
      <p:sp>
        <p:nvSpPr>
          <p:cNvPr id="4" name="Espaço Reservado para Data 3">
            <a:extLst>
              <a:ext uri="{FF2B5EF4-FFF2-40B4-BE49-F238E27FC236}">
                <a16:creationId xmlns:a16="http://schemas.microsoft.com/office/drawing/2014/main" id="{D6AF7EF2-5B27-C083-5414-27F1300160F5}"/>
              </a:ext>
            </a:extLst>
          </p:cNvPr>
          <p:cNvSpPr>
            <a:spLocks noGrp="1"/>
          </p:cNvSpPr>
          <p:nvPr>
            <p:ph type="dt" sz="half" idx="10"/>
          </p:nvPr>
        </p:nvSpPr>
        <p:spPr/>
        <p:txBody>
          <a:bodyPr/>
          <a:lstStyle/>
          <a:p>
            <a:fld id="{9375DC85-45EA-46DF-B02F-6014E9A72B80}" type="datetime1">
              <a:t>11/08/2026</a:t>
            </a:fld>
            <a:endParaRPr lang="en-US"/>
          </a:p>
        </p:txBody>
      </p:sp>
      <p:sp>
        <p:nvSpPr>
          <p:cNvPr id="5" name="Espaço Reservado para Rodapé 4">
            <a:extLst>
              <a:ext uri="{FF2B5EF4-FFF2-40B4-BE49-F238E27FC236}">
                <a16:creationId xmlns:a16="http://schemas.microsoft.com/office/drawing/2014/main" id="{9440C946-7D3A-795D-F36B-15C6FFBF4393}"/>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2A9EA9E9-277A-BB40-9A6E-8A4C8E54406B}"/>
              </a:ext>
            </a:extLst>
          </p:cNvPr>
          <p:cNvSpPr>
            <a:spLocks noGrp="1"/>
          </p:cNvSpPr>
          <p:nvPr>
            <p:ph type="sldNum" sz="quarter" idx="12"/>
          </p:nvPr>
        </p:nvSpPr>
        <p:spPr/>
        <p:txBody>
          <a:bodyPr/>
          <a:lstStyle/>
          <a:p>
            <a:fld id="{E30AF5A0-43BB-4336-8627-9123B9144D80}" type="slidenum">
              <a:rPr lang="en-US" dirty="0"/>
              <a:t>25</a:t>
            </a:fld>
            <a:endParaRPr lang="en-US"/>
          </a:p>
        </p:txBody>
      </p:sp>
    </p:spTree>
    <p:extLst>
      <p:ext uri="{BB962C8B-B14F-4D97-AF65-F5344CB8AC3E}">
        <p14:creationId xmlns:p14="http://schemas.microsoft.com/office/powerpoint/2010/main" val="304085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6FD93D-400D-40DB-344E-3910263E82E9}"/>
              </a:ext>
            </a:extLst>
          </p:cNvPr>
          <p:cNvSpPr>
            <a:spLocks noGrp="1"/>
          </p:cNvSpPr>
          <p:nvPr>
            <p:ph type="title"/>
          </p:nvPr>
        </p:nvSpPr>
        <p:spPr/>
        <p:txBody>
          <a:bodyPr/>
          <a:lstStyle/>
          <a:p>
            <a:r>
              <a:rPr lang="pt-BR" cap="all" baseline="-25000">
                <a:latin typeface="Univers Condensed"/>
                <a:ea typeface="Univers Condensed"/>
                <a:cs typeface="Univers Condensed"/>
              </a:rPr>
              <a:t>Introdução ao google Colab</a:t>
            </a:r>
            <a:endParaRPr lang="pt-BR"/>
          </a:p>
        </p:txBody>
      </p:sp>
      <p:pic>
        <p:nvPicPr>
          <p:cNvPr id="7" name="Espaço Reservado para Conteúdo 6">
            <a:extLst>
              <a:ext uri="{FF2B5EF4-FFF2-40B4-BE49-F238E27FC236}">
                <a16:creationId xmlns:a16="http://schemas.microsoft.com/office/drawing/2014/main" id="{D1191023-6CCF-36E6-77F5-AF1075ECF607}"/>
              </a:ext>
            </a:extLst>
          </p:cNvPr>
          <p:cNvPicPr>
            <a:picLocks noGrp="1" noChangeAspect="1"/>
          </p:cNvPicPr>
          <p:nvPr>
            <p:ph idx="1"/>
          </p:nvPr>
        </p:nvPicPr>
        <p:blipFill>
          <a:blip r:embed="rId2"/>
          <a:stretch>
            <a:fillRect/>
          </a:stretch>
        </p:blipFill>
        <p:spPr>
          <a:xfrm>
            <a:off x="968799" y="1986280"/>
            <a:ext cx="9964224" cy="4329003"/>
          </a:xfrm>
        </p:spPr>
      </p:pic>
      <p:sp>
        <p:nvSpPr>
          <p:cNvPr id="4" name="Espaço Reservado para Data 3">
            <a:extLst>
              <a:ext uri="{FF2B5EF4-FFF2-40B4-BE49-F238E27FC236}">
                <a16:creationId xmlns:a16="http://schemas.microsoft.com/office/drawing/2014/main" id="{91372AAD-33E1-DDED-8711-714AA6CF14F5}"/>
              </a:ext>
            </a:extLst>
          </p:cNvPr>
          <p:cNvSpPr>
            <a:spLocks noGrp="1"/>
          </p:cNvSpPr>
          <p:nvPr>
            <p:ph type="dt" sz="half" idx="10"/>
          </p:nvPr>
        </p:nvSpPr>
        <p:spPr/>
        <p:txBody>
          <a:bodyPr/>
          <a:lstStyle/>
          <a:p>
            <a:fld id="{3C1156B0-F9D1-4E8A-A1E2-6D843B28B8B5}" type="datetime1">
              <a:t>11/08/2026</a:t>
            </a:fld>
            <a:endParaRPr lang="en-US"/>
          </a:p>
        </p:txBody>
      </p:sp>
      <p:sp>
        <p:nvSpPr>
          <p:cNvPr id="5" name="Espaço Reservado para Rodapé 4">
            <a:extLst>
              <a:ext uri="{FF2B5EF4-FFF2-40B4-BE49-F238E27FC236}">
                <a16:creationId xmlns:a16="http://schemas.microsoft.com/office/drawing/2014/main" id="{4CC6532E-88A6-761B-EEA8-136CCEE69EF9}"/>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D8B172BD-9222-5BBC-48A0-5076FB201610}"/>
              </a:ext>
            </a:extLst>
          </p:cNvPr>
          <p:cNvSpPr>
            <a:spLocks noGrp="1"/>
          </p:cNvSpPr>
          <p:nvPr>
            <p:ph type="sldNum" sz="quarter" idx="12"/>
          </p:nvPr>
        </p:nvSpPr>
        <p:spPr/>
        <p:txBody>
          <a:bodyPr/>
          <a:lstStyle/>
          <a:p>
            <a:fld id="{E30AF5A0-43BB-4336-8627-9123B9144D80}" type="slidenum">
              <a:rPr lang="en-US" dirty="0"/>
              <a:t>26</a:t>
            </a:fld>
            <a:endParaRPr lang="en-US"/>
          </a:p>
        </p:txBody>
      </p:sp>
    </p:spTree>
    <p:extLst>
      <p:ext uri="{BB962C8B-B14F-4D97-AF65-F5344CB8AC3E}">
        <p14:creationId xmlns:p14="http://schemas.microsoft.com/office/powerpoint/2010/main" val="908386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ECF26-EBBE-9514-F52D-739419A74726}"/>
              </a:ext>
            </a:extLst>
          </p:cNvPr>
          <p:cNvSpPr>
            <a:spLocks noGrp="1"/>
          </p:cNvSpPr>
          <p:nvPr>
            <p:ph type="title"/>
          </p:nvPr>
        </p:nvSpPr>
        <p:spPr/>
        <p:txBody>
          <a:bodyPr/>
          <a:lstStyle/>
          <a:p>
            <a:r>
              <a:rPr lang="pt-BR" dirty="0"/>
              <a:t>Introdução ao google </a:t>
            </a:r>
            <a:r>
              <a:rPr lang="pt-BR" dirty="0" err="1"/>
              <a:t>colab</a:t>
            </a:r>
          </a:p>
        </p:txBody>
      </p:sp>
      <p:pic>
        <p:nvPicPr>
          <p:cNvPr id="7" name="Espaço Reservado para Conteúdo 6" descr="Uma imagem contendo Tabela&#10;&#10;Descrição gerada automaticamente">
            <a:extLst>
              <a:ext uri="{FF2B5EF4-FFF2-40B4-BE49-F238E27FC236}">
                <a16:creationId xmlns:a16="http://schemas.microsoft.com/office/drawing/2014/main" id="{D9DF685C-F0DE-BD46-BAC0-B08354B6E43F}"/>
              </a:ext>
            </a:extLst>
          </p:cNvPr>
          <p:cNvPicPr>
            <a:picLocks noGrp="1" noChangeAspect="1"/>
          </p:cNvPicPr>
          <p:nvPr>
            <p:ph idx="1"/>
          </p:nvPr>
        </p:nvPicPr>
        <p:blipFill>
          <a:blip r:embed="rId2"/>
          <a:stretch>
            <a:fillRect/>
          </a:stretch>
        </p:blipFill>
        <p:spPr>
          <a:xfrm>
            <a:off x="1958799" y="3190686"/>
            <a:ext cx="7736411" cy="3249370"/>
          </a:xfrm>
        </p:spPr>
      </p:pic>
      <p:sp>
        <p:nvSpPr>
          <p:cNvPr id="4" name="Espaço Reservado para Data 3">
            <a:extLst>
              <a:ext uri="{FF2B5EF4-FFF2-40B4-BE49-F238E27FC236}">
                <a16:creationId xmlns:a16="http://schemas.microsoft.com/office/drawing/2014/main" id="{76BEC5A7-77F1-6EAA-FF97-4AC10246C9A3}"/>
              </a:ext>
            </a:extLst>
          </p:cNvPr>
          <p:cNvSpPr>
            <a:spLocks noGrp="1"/>
          </p:cNvSpPr>
          <p:nvPr>
            <p:ph type="dt" sz="half" idx="10"/>
          </p:nvPr>
        </p:nvSpPr>
        <p:spPr/>
        <p:txBody>
          <a:bodyPr/>
          <a:lstStyle/>
          <a:p>
            <a:fld id="{C0045838-D54E-4025-9CA6-9AA88292EABD}" type="datetime1">
              <a:t>11/08/2026</a:t>
            </a:fld>
            <a:endParaRPr lang="en-US"/>
          </a:p>
        </p:txBody>
      </p:sp>
      <p:sp>
        <p:nvSpPr>
          <p:cNvPr id="5" name="Espaço Reservado para Rodapé 4">
            <a:extLst>
              <a:ext uri="{FF2B5EF4-FFF2-40B4-BE49-F238E27FC236}">
                <a16:creationId xmlns:a16="http://schemas.microsoft.com/office/drawing/2014/main" id="{CDC697C6-6382-5E13-E70C-E73D1E601868}"/>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E39203A8-0453-6D88-06C8-D60FF0B1617A}"/>
              </a:ext>
            </a:extLst>
          </p:cNvPr>
          <p:cNvSpPr>
            <a:spLocks noGrp="1"/>
          </p:cNvSpPr>
          <p:nvPr>
            <p:ph type="sldNum" sz="quarter" idx="12"/>
          </p:nvPr>
        </p:nvSpPr>
        <p:spPr/>
        <p:txBody>
          <a:bodyPr/>
          <a:lstStyle/>
          <a:p>
            <a:fld id="{E30AF5A0-43BB-4336-8627-9123B9144D80}" type="slidenum">
              <a:rPr lang="en-US" dirty="0"/>
              <a:t>27</a:t>
            </a:fld>
            <a:endParaRPr lang="en-US"/>
          </a:p>
        </p:txBody>
      </p:sp>
      <p:sp>
        <p:nvSpPr>
          <p:cNvPr id="8" name="Espaço Reservado para Conteúdo 2">
            <a:extLst>
              <a:ext uri="{FF2B5EF4-FFF2-40B4-BE49-F238E27FC236}">
                <a16:creationId xmlns:a16="http://schemas.microsoft.com/office/drawing/2014/main" id="{5416E20F-4EC3-6542-98DE-DAA795658AD6}"/>
              </a:ext>
            </a:extLst>
          </p:cNvPr>
          <p:cNvSpPr txBox="1">
            <a:spLocks/>
          </p:cNvSpPr>
          <p:nvPr/>
        </p:nvSpPr>
        <p:spPr>
          <a:xfrm>
            <a:off x="700635" y="1607611"/>
            <a:ext cx="10685265" cy="4032088"/>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ea typeface="+mn-lt"/>
              <a:cs typeface="+mn-lt"/>
            </a:endParaRPr>
          </a:p>
          <a:p>
            <a:pPr lvl="1" algn="just">
              <a:buFont typeface="Courier New" panose="020B0604020202020204" pitchFamily="34" charset="0"/>
              <a:buChar char="o"/>
            </a:pPr>
            <a:r>
              <a:rPr lang="pt-BR" dirty="0"/>
              <a:t>Montar drive:</a:t>
            </a:r>
          </a:p>
          <a:p>
            <a:pPr lvl="2"/>
            <a:r>
              <a:rPr lang="pt-BR" dirty="0" err="1"/>
              <a:t>from</a:t>
            </a:r>
            <a:r>
              <a:rPr lang="pt-BR" dirty="0"/>
              <a:t> </a:t>
            </a:r>
            <a:r>
              <a:rPr lang="pt-BR" dirty="0" err="1"/>
              <a:t>google.colab</a:t>
            </a:r>
            <a:r>
              <a:rPr lang="pt-BR" dirty="0"/>
              <a:t> </a:t>
            </a:r>
            <a:r>
              <a:rPr lang="pt-BR" dirty="0" err="1"/>
              <a:t>import</a:t>
            </a:r>
            <a:r>
              <a:rPr lang="pt-BR" dirty="0"/>
              <a:t> drive</a:t>
            </a:r>
          </a:p>
          <a:p>
            <a:pPr lvl="2"/>
            <a:r>
              <a:rPr lang="pt-BR" dirty="0" err="1"/>
              <a:t>drive.mount</a:t>
            </a:r>
            <a:r>
              <a:rPr lang="pt-BR" dirty="0"/>
              <a:t>('/</a:t>
            </a:r>
            <a:r>
              <a:rPr lang="pt-BR" dirty="0" err="1"/>
              <a:t>content</a:t>
            </a:r>
            <a:r>
              <a:rPr lang="pt-BR" dirty="0"/>
              <a:t>/drive')</a:t>
            </a:r>
          </a:p>
          <a:p>
            <a:pPr lvl="2" algn="just">
              <a:buFont typeface="Courier New" panose="020B0604020202020204" pitchFamily="34" charset="0"/>
              <a:buChar char="o"/>
            </a:pPr>
            <a:endParaRPr lang="pt-BR" dirty="0"/>
          </a:p>
        </p:txBody>
      </p:sp>
    </p:spTree>
    <p:extLst>
      <p:ext uri="{BB962C8B-B14F-4D97-AF65-F5344CB8AC3E}">
        <p14:creationId xmlns:p14="http://schemas.microsoft.com/office/powerpoint/2010/main" val="2761649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7E8E3C-3CD3-6102-51E8-4B19D880FCEF}"/>
              </a:ext>
            </a:extLst>
          </p:cNvPr>
          <p:cNvSpPr>
            <a:spLocks noGrp="1"/>
          </p:cNvSpPr>
          <p:nvPr>
            <p:ph type="title"/>
          </p:nvPr>
        </p:nvSpPr>
        <p:spPr/>
        <p:txBody>
          <a:bodyPr/>
          <a:lstStyle/>
          <a:p>
            <a:r>
              <a:rPr lang="pt-BR" dirty="0"/>
              <a:t>bibliotecas</a:t>
            </a:r>
          </a:p>
        </p:txBody>
      </p:sp>
      <p:pic>
        <p:nvPicPr>
          <p:cNvPr id="7" name="Espaço Reservado para Conteúdo 6" descr="Interface gráfica do usuário, Texto, Aplicativo, Email&#10;&#10;Descrição gerada automaticamente">
            <a:extLst>
              <a:ext uri="{FF2B5EF4-FFF2-40B4-BE49-F238E27FC236}">
                <a16:creationId xmlns:a16="http://schemas.microsoft.com/office/drawing/2014/main" id="{B8917311-6263-9AA8-727E-170773B60582}"/>
              </a:ext>
            </a:extLst>
          </p:cNvPr>
          <p:cNvPicPr>
            <a:picLocks noGrp="1" noChangeAspect="1"/>
          </p:cNvPicPr>
          <p:nvPr>
            <p:ph idx="1"/>
          </p:nvPr>
        </p:nvPicPr>
        <p:blipFill>
          <a:blip r:embed="rId2"/>
          <a:stretch>
            <a:fillRect/>
          </a:stretch>
        </p:blipFill>
        <p:spPr>
          <a:xfrm>
            <a:off x="1501702" y="2293074"/>
            <a:ext cx="9186544" cy="4125608"/>
          </a:xfrm>
        </p:spPr>
      </p:pic>
      <p:sp>
        <p:nvSpPr>
          <p:cNvPr id="4" name="Espaço Reservado para Data 3">
            <a:extLst>
              <a:ext uri="{FF2B5EF4-FFF2-40B4-BE49-F238E27FC236}">
                <a16:creationId xmlns:a16="http://schemas.microsoft.com/office/drawing/2014/main" id="{C89CA12E-1C86-062E-6AB4-E63942E5D426}"/>
              </a:ext>
            </a:extLst>
          </p:cNvPr>
          <p:cNvSpPr>
            <a:spLocks noGrp="1"/>
          </p:cNvSpPr>
          <p:nvPr>
            <p:ph type="dt" sz="half" idx="10"/>
          </p:nvPr>
        </p:nvSpPr>
        <p:spPr/>
        <p:txBody>
          <a:bodyPr/>
          <a:lstStyle/>
          <a:p>
            <a:fld id="{1FBB385B-3849-4E3D-B44B-EB2B0C40A613}" type="datetime1">
              <a:t>11/08/2026</a:t>
            </a:fld>
            <a:endParaRPr lang="en-US"/>
          </a:p>
        </p:txBody>
      </p:sp>
      <p:sp>
        <p:nvSpPr>
          <p:cNvPr id="5" name="Espaço Reservado para Rodapé 4">
            <a:extLst>
              <a:ext uri="{FF2B5EF4-FFF2-40B4-BE49-F238E27FC236}">
                <a16:creationId xmlns:a16="http://schemas.microsoft.com/office/drawing/2014/main" id="{7D305C95-A9C9-3C35-CA58-65445EC52188}"/>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5EE531E7-09ED-2839-10A0-DF8F1DB8C87B}"/>
              </a:ext>
            </a:extLst>
          </p:cNvPr>
          <p:cNvSpPr>
            <a:spLocks noGrp="1"/>
          </p:cNvSpPr>
          <p:nvPr>
            <p:ph type="sldNum" sz="quarter" idx="12"/>
          </p:nvPr>
        </p:nvSpPr>
        <p:spPr/>
        <p:txBody>
          <a:bodyPr/>
          <a:lstStyle/>
          <a:p>
            <a:fld id="{E30AF5A0-43BB-4336-8627-9123B9144D80}" type="slidenum">
              <a:rPr lang="en-US" dirty="0"/>
              <a:t>28</a:t>
            </a:fld>
            <a:endParaRPr lang="en-US"/>
          </a:p>
        </p:txBody>
      </p:sp>
    </p:spTree>
    <p:extLst>
      <p:ext uri="{BB962C8B-B14F-4D97-AF65-F5344CB8AC3E}">
        <p14:creationId xmlns:p14="http://schemas.microsoft.com/office/powerpoint/2010/main" val="971957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96306C-7EF1-64EA-F5B5-DBF5337850B0}"/>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7D92486C-5BA3-B235-00B9-369CE53B164C}"/>
              </a:ext>
            </a:extLst>
          </p:cNvPr>
          <p:cNvSpPr>
            <a:spLocks noGrp="1"/>
          </p:cNvSpPr>
          <p:nvPr>
            <p:ph idx="1"/>
          </p:nvPr>
        </p:nvSpPr>
        <p:spPr/>
        <p:txBody>
          <a:bodyPr vert="horz" lIns="91440" tIns="45720" rIns="91440" bIns="45720" rtlCol="0" anchor="t">
            <a:normAutofit/>
          </a:bodyPr>
          <a:lstStyle/>
          <a:p>
            <a:r>
              <a:rPr lang="pt-BR" dirty="0" err="1"/>
              <a:t>scipy</a:t>
            </a:r>
          </a:p>
        </p:txBody>
      </p:sp>
      <p:sp>
        <p:nvSpPr>
          <p:cNvPr id="4" name="Espaço Reservado para Data 3">
            <a:extLst>
              <a:ext uri="{FF2B5EF4-FFF2-40B4-BE49-F238E27FC236}">
                <a16:creationId xmlns:a16="http://schemas.microsoft.com/office/drawing/2014/main" id="{3BDA272B-B3A9-ABDD-F208-169A0F1691E1}"/>
              </a:ext>
            </a:extLst>
          </p:cNvPr>
          <p:cNvSpPr>
            <a:spLocks noGrp="1"/>
          </p:cNvSpPr>
          <p:nvPr>
            <p:ph type="dt" sz="half" idx="10"/>
          </p:nvPr>
        </p:nvSpPr>
        <p:spPr/>
        <p:txBody>
          <a:bodyPr/>
          <a:lstStyle/>
          <a:p>
            <a:fld id="{AD1AE412-F548-46AD-9782-9B23656617F6}" type="datetime1">
              <a:t>11/08/2026</a:t>
            </a:fld>
            <a:endParaRPr lang="en-US"/>
          </a:p>
        </p:txBody>
      </p:sp>
      <p:sp>
        <p:nvSpPr>
          <p:cNvPr id="5" name="Espaço Reservado para Rodapé 4">
            <a:extLst>
              <a:ext uri="{FF2B5EF4-FFF2-40B4-BE49-F238E27FC236}">
                <a16:creationId xmlns:a16="http://schemas.microsoft.com/office/drawing/2014/main" id="{B0BF9C2C-5E61-459A-45DD-4B02ED3D0C71}"/>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DC375869-3619-974C-3579-44FFD92F461A}"/>
              </a:ext>
            </a:extLst>
          </p:cNvPr>
          <p:cNvSpPr>
            <a:spLocks noGrp="1"/>
          </p:cNvSpPr>
          <p:nvPr>
            <p:ph type="sldNum" sz="quarter" idx="12"/>
          </p:nvPr>
        </p:nvSpPr>
        <p:spPr/>
        <p:txBody>
          <a:bodyPr/>
          <a:lstStyle/>
          <a:p>
            <a:fld id="{E30AF5A0-43BB-4336-8627-9123B9144D80}" type="slidenum">
              <a:rPr lang="en-US" dirty="0"/>
              <a:t>29</a:t>
            </a:fld>
            <a:endParaRPr lang="en-US"/>
          </a:p>
        </p:txBody>
      </p:sp>
      <p:pic>
        <p:nvPicPr>
          <p:cNvPr id="7" name="Imagem 6" descr="Interface gráfica do usuário, Texto, Aplicativo, Email&#10;&#10;Descrição gerada automaticamente">
            <a:extLst>
              <a:ext uri="{FF2B5EF4-FFF2-40B4-BE49-F238E27FC236}">
                <a16:creationId xmlns:a16="http://schemas.microsoft.com/office/drawing/2014/main" id="{096EB674-F19E-C875-2373-DCE0C909ED22}"/>
              </a:ext>
            </a:extLst>
          </p:cNvPr>
          <p:cNvPicPr>
            <a:picLocks noChangeAspect="1"/>
          </p:cNvPicPr>
          <p:nvPr/>
        </p:nvPicPr>
        <p:blipFill>
          <a:blip r:embed="rId2"/>
          <a:stretch>
            <a:fillRect/>
          </a:stretch>
        </p:blipFill>
        <p:spPr>
          <a:xfrm>
            <a:off x="2580362" y="1727108"/>
            <a:ext cx="8352728" cy="4542950"/>
          </a:xfrm>
          <a:prstGeom prst="rect">
            <a:avLst/>
          </a:prstGeom>
        </p:spPr>
      </p:pic>
    </p:spTree>
    <p:extLst>
      <p:ext uri="{BB962C8B-B14F-4D97-AF65-F5344CB8AC3E}">
        <p14:creationId xmlns:p14="http://schemas.microsoft.com/office/powerpoint/2010/main" val="177379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03619B-35B5-EBDF-E4E3-420270E5F577}"/>
              </a:ext>
            </a:extLst>
          </p:cNvPr>
          <p:cNvSpPr>
            <a:spLocks noGrp="1"/>
          </p:cNvSpPr>
          <p:nvPr>
            <p:ph type="title"/>
          </p:nvPr>
        </p:nvSpPr>
        <p:spPr/>
        <p:txBody>
          <a:bodyPr/>
          <a:lstStyle/>
          <a:p>
            <a:r>
              <a:rPr lang="pt-BR" dirty="0"/>
              <a:t>Introdução ao </a:t>
            </a:r>
            <a:r>
              <a:rPr lang="pt-BR" dirty="0" err="1"/>
              <a:t>RStudio</a:t>
            </a:r>
            <a:endParaRPr lang="pt-BR" dirty="0"/>
          </a:p>
        </p:txBody>
      </p:sp>
      <p:sp>
        <p:nvSpPr>
          <p:cNvPr id="3" name="Espaço Reservado para Conteúdo 2">
            <a:extLst>
              <a:ext uri="{FF2B5EF4-FFF2-40B4-BE49-F238E27FC236}">
                <a16:creationId xmlns:a16="http://schemas.microsoft.com/office/drawing/2014/main" id="{C0916B35-D32B-A4C1-4DA3-BE2ECA61CC7E}"/>
              </a:ext>
            </a:extLst>
          </p:cNvPr>
          <p:cNvSpPr>
            <a:spLocks noGrp="1"/>
          </p:cNvSpPr>
          <p:nvPr>
            <p:ph idx="1"/>
          </p:nvPr>
        </p:nvSpPr>
        <p:spPr>
          <a:xfrm>
            <a:off x="700635" y="1873249"/>
            <a:ext cx="10691265" cy="4055965"/>
          </a:xfrm>
        </p:spPr>
        <p:txBody>
          <a:bodyPr vert="horz" lIns="91440" tIns="45720" rIns="91440" bIns="45720" rtlCol="0" anchor="t">
            <a:normAutofit/>
          </a:bodyPr>
          <a:lstStyle/>
          <a:p>
            <a:r>
              <a:rPr lang="pt-BR" sz="2800" b="1" dirty="0"/>
              <a:t>O que é o </a:t>
            </a:r>
            <a:r>
              <a:rPr lang="pt-BR" sz="2800" b="1" dirty="0" err="1"/>
              <a:t>RStudio</a:t>
            </a:r>
            <a:r>
              <a:rPr lang="pt-BR" sz="2800" b="1" dirty="0"/>
              <a:t> Cloud?</a:t>
            </a:r>
            <a:endParaRPr lang="pt-BR" sz="2800" dirty="0"/>
          </a:p>
          <a:p>
            <a:pPr lvl="1">
              <a:buFont typeface="Courier New" panose="020B0604020202020204" pitchFamily="34" charset="0"/>
              <a:buChar char="o"/>
            </a:pPr>
            <a:r>
              <a:rPr lang="pt-BR" sz="2800" b="1" dirty="0">
                <a:ea typeface="+mn-lt"/>
                <a:cs typeface="+mn-lt"/>
              </a:rPr>
              <a:t>Definição</a:t>
            </a:r>
            <a:r>
              <a:rPr lang="pt-BR" sz="2800" dirty="0">
                <a:ea typeface="+mn-lt"/>
                <a:cs typeface="+mn-lt"/>
              </a:rPr>
              <a:t>: </a:t>
            </a:r>
            <a:r>
              <a:rPr lang="pt-BR" sz="2800" dirty="0" err="1">
                <a:ea typeface="+mn-lt"/>
                <a:cs typeface="+mn-lt"/>
              </a:rPr>
              <a:t>RStudio</a:t>
            </a:r>
            <a:r>
              <a:rPr lang="pt-BR" sz="2800" dirty="0">
                <a:ea typeface="+mn-lt"/>
                <a:cs typeface="+mn-lt"/>
              </a:rPr>
              <a:t> Cloud é uma versão online do </a:t>
            </a:r>
            <a:r>
              <a:rPr lang="pt-BR" sz="2800" dirty="0" err="1">
                <a:ea typeface="+mn-lt"/>
                <a:cs typeface="+mn-lt"/>
              </a:rPr>
              <a:t>RStudio</a:t>
            </a:r>
            <a:r>
              <a:rPr lang="pt-BR" sz="2800" dirty="0">
                <a:ea typeface="+mn-lt"/>
                <a:cs typeface="+mn-lt"/>
              </a:rPr>
              <a:t>, que permite a execução de código R em um ambiente de nuvem.</a:t>
            </a:r>
            <a:endParaRPr lang="pt-BR" sz="2800" dirty="0"/>
          </a:p>
          <a:p>
            <a:pPr lvl="1">
              <a:buFont typeface="Courier New" panose="020B0604020202020204" pitchFamily="34" charset="0"/>
              <a:buChar char="o"/>
            </a:pPr>
            <a:r>
              <a:rPr lang="pt-BR" sz="2800" b="1" dirty="0">
                <a:ea typeface="+mn-lt"/>
                <a:cs typeface="+mn-lt"/>
              </a:rPr>
              <a:t>Finalidade</a:t>
            </a:r>
            <a:r>
              <a:rPr lang="pt-BR" sz="2800" dirty="0">
                <a:ea typeface="+mn-lt"/>
                <a:cs typeface="+mn-lt"/>
              </a:rPr>
              <a:t>: Facilita a colaboração e o ensino de R, sem a necessidade de instalação local.</a:t>
            </a:r>
            <a:endParaRPr lang="pt-BR" sz="2800" dirty="0"/>
          </a:p>
          <a:p>
            <a:endParaRPr lang="pt-BR" sz="2400" dirty="0"/>
          </a:p>
        </p:txBody>
      </p:sp>
      <p:pic>
        <p:nvPicPr>
          <p:cNvPr id="4" name="Imagem 3">
            <a:extLst>
              <a:ext uri="{FF2B5EF4-FFF2-40B4-BE49-F238E27FC236}">
                <a16:creationId xmlns:a16="http://schemas.microsoft.com/office/drawing/2014/main" id="{0AB7F06E-5AF9-EBCC-3F15-9B8786F286AE}"/>
              </a:ext>
            </a:extLst>
          </p:cNvPr>
          <p:cNvPicPr>
            <a:picLocks noChangeAspect="1"/>
          </p:cNvPicPr>
          <p:nvPr/>
        </p:nvPicPr>
        <p:blipFill>
          <a:blip r:embed="rId2"/>
          <a:stretch>
            <a:fillRect/>
          </a:stretch>
        </p:blipFill>
        <p:spPr>
          <a:xfrm>
            <a:off x="4200071" y="4552950"/>
            <a:ext cx="3124200" cy="1257300"/>
          </a:xfrm>
          <a:prstGeom prst="rect">
            <a:avLst/>
          </a:prstGeom>
        </p:spPr>
      </p:pic>
    </p:spTree>
    <p:extLst>
      <p:ext uri="{BB962C8B-B14F-4D97-AF65-F5344CB8AC3E}">
        <p14:creationId xmlns:p14="http://schemas.microsoft.com/office/powerpoint/2010/main" val="3011986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ED377-8C25-22F1-D9E8-ED440528B5B9}"/>
              </a:ext>
            </a:extLst>
          </p:cNvPr>
          <p:cNvSpPr>
            <a:spLocks noGrp="1"/>
          </p:cNvSpPr>
          <p:nvPr>
            <p:ph type="title"/>
          </p:nvPr>
        </p:nvSpPr>
        <p:spPr/>
        <p:txBody>
          <a:bodyPr/>
          <a:lstStyle/>
          <a:p>
            <a:r>
              <a:rPr lang="pt-BR" sz="4400" baseline="0">
                <a:latin typeface="Aptos Display"/>
              </a:rPr>
              <a:t>Introdução ao RStudio</a:t>
            </a:r>
            <a:endParaRPr lang="pt-BR"/>
          </a:p>
        </p:txBody>
      </p:sp>
      <p:sp>
        <p:nvSpPr>
          <p:cNvPr id="3" name="Espaço Reservado para Conteúdo 2">
            <a:extLst>
              <a:ext uri="{FF2B5EF4-FFF2-40B4-BE49-F238E27FC236}">
                <a16:creationId xmlns:a16="http://schemas.microsoft.com/office/drawing/2014/main" id="{6838AE88-C967-249E-2BFF-FB0F06F63421}"/>
              </a:ext>
            </a:extLst>
          </p:cNvPr>
          <p:cNvSpPr>
            <a:spLocks noGrp="1"/>
          </p:cNvSpPr>
          <p:nvPr>
            <p:ph idx="1"/>
          </p:nvPr>
        </p:nvSpPr>
        <p:spPr>
          <a:xfrm>
            <a:off x="700635" y="1935453"/>
            <a:ext cx="10691265" cy="4195924"/>
          </a:xfrm>
        </p:spPr>
        <p:txBody>
          <a:bodyPr vert="horz" lIns="91440" tIns="45720" rIns="91440" bIns="45720" rtlCol="0" anchor="t">
            <a:normAutofit/>
          </a:bodyPr>
          <a:lstStyle/>
          <a:p>
            <a:r>
              <a:rPr lang="pt-BR" sz="2400" b="1" dirty="0"/>
              <a:t>Vantagens do </a:t>
            </a:r>
            <a:r>
              <a:rPr lang="pt-BR" sz="2400" b="1" dirty="0" err="1"/>
              <a:t>RStudio</a:t>
            </a:r>
            <a:r>
              <a:rPr lang="pt-BR" sz="2400" b="1" dirty="0"/>
              <a:t> </a:t>
            </a:r>
            <a:r>
              <a:rPr lang="pt-BR" sz="2400" b="1" dirty="0" err="1"/>
              <a:t>Cloud</a:t>
            </a:r>
            <a:endParaRPr lang="pt-BR" sz="2400" b="1" dirty="0"/>
          </a:p>
          <a:p>
            <a:pPr lvl="1">
              <a:buFont typeface="Courier New"/>
              <a:buChar char="o"/>
            </a:pPr>
            <a:r>
              <a:rPr lang="pt-BR" sz="2400" b="1" dirty="0"/>
              <a:t>Acessível</a:t>
            </a:r>
            <a:r>
              <a:rPr lang="pt-BR" sz="2400" dirty="0"/>
              <a:t>: Pode ser acessado de qualquer dispositivo com conexão à internet.</a:t>
            </a:r>
          </a:p>
          <a:p>
            <a:pPr lvl="1">
              <a:buFont typeface="Courier New"/>
              <a:buChar char="o"/>
            </a:pPr>
            <a:r>
              <a:rPr lang="pt-BR" sz="2400" b="1" dirty="0"/>
              <a:t>Sem Configuração Local</a:t>
            </a:r>
            <a:r>
              <a:rPr lang="pt-BR" sz="2400" dirty="0"/>
              <a:t>: Não requer instalação de </a:t>
            </a:r>
            <a:r>
              <a:rPr lang="pt-BR" sz="2400" dirty="0" err="1"/>
              <a:t>R</a:t>
            </a:r>
            <a:r>
              <a:rPr lang="pt-BR" sz="2400" dirty="0"/>
              <a:t> ou </a:t>
            </a:r>
            <a:r>
              <a:rPr lang="pt-BR" sz="2400" dirty="0" err="1"/>
              <a:t>RStudio</a:t>
            </a:r>
            <a:r>
              <a:rPr lang="pt-BR" sz="2400" dirty="0"/>
              <a:t> no seu computador.</a:t>
            </a:r>
          </a:p>
          <a:p>
            <a:pPr lvl="1">
              <a:buFont typeface="Courier New"/>
              <a:buChar char="o"/>
            </a:pPr>
            <a:r>
              <a:rPr lang="pt-BR" sz="2400" b="1" dirty="0"/>
              <a:t>Colaborativo</a:t>
            </a:r>
            <a:r>
              <a:rPr lang="pt-BR" sz="2400" dirty="0"/>
              <a:t>: Facilita o compartilhamento de projetos e colaboração em tempo real.</a:t>
            </a:r>
          </a:p>
          <a:p>
            <a:pPr lvl="1">
              <a:buFont typeface="Courier New"/>
              <a:buChar char="o"/>
            </a:pPr>
            <a:r>
              <a:rPr lang="pt-BR" sz="2400" b="1" dirty="0"/>
              <a:t>Recursos Educacionais</a:t>
            </a:r>
            <a:r>
              <a:rPr lang="pt-BR" sz="2400" dirty="0"/>
              <a:t>: Ideal para salas de aula e workshops.</a:t>
            </a:r>
          </a:p>
        </p:txBody>
      </p:sp>
    </p:spTree>
    <p:extLst>
      <p:ext uri="{BB962C8B-B14F-4D97-AF65-F5344CB8AC3E}">
        <p14:creationId xmlns:p14="http://schemas.microsoft.com/office/powerpoint/2010/main" val="1169769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9FCE00-7B1B-A951-C101-10E436C13AC5}"/>
              </a:ext>
            </a:extLst>
          </p:cNvPr>
          <p:cNvSpPr>
            <a:spLocks noGrp="1"/>
          </p:cNvSpPr>
          <p:nvPr>
            <p:ph type="title"/>
          </p:nvPr>
        </p:nvSpPr>
        <p:spPr/>
        <p:txBody>
          <a:bodyPr/>
          <a:lstStyle/>
          <a:p>
            <a:r>
              <a:rPr lang="pt-BR"/>
              <a:t>Introdução ao </a:t>
            </a:r>
            <a:r>
              <a:rPr lang="pt-BR" err="1"/>
              <a:t>RStudio</a:t>
            </a:r>
            <a:r>
              <a:rPr lang="pt-BR"/>
              <a:t> Cloud</a:t>
            </a:r>
          </a:p>
        </p:txBody>
      </p:sp>
      <p:sp>
        <p:nvSpPr>
          <p:cNvPr id="3" name="Espaço Reservado para Conteúdo 2">
            <a:extLst>
              <a:ext uri="{FF2B5EF4-FFF2-40B4-BE49-F238E27FC236}">
                <a16:creationId xmlns:a16="http://schemas.microsoft.com/office/drawing/2014/main" id="{F72F83B7-B124-4311-E481-15953C8B2B48}"/>
              </a:ext>
            </a:extLst>
          </p:cNvPr>
          <p:cNvSpPr>
            <a:spLocks noGrp="1"/>
          </p:cNvSpPr>
          <p:nvPr>
            <p:ph idx="1"/>
          </p:nvPr>
        </p:nvSpPr>
        <p:spPr>
          <a:xfrm>
            <a:off x="700635" y="1935453"/>
            <a:ext cx="10691265" cy="4289230"/>
          </a:xfrm>
        </p:spPr>
        <p:txBody>
          <a:bodyPr vert="horz" lIns="91440" tIns="45720" rIns="91440" bIns="45720" rtlCol="0" anchor="t">
            <a:normAutofit/>
          </a:bodyPr>
          <a:lstStyle/>
          <a:p>
            <a:r>
              <a:rPr lang="pt-BR" sz="2800" b="1" dirty="0"/>
              <a:t>Configurando o </a:t>
            </a:r>
            <a:r>
              <a:rPr lang="pt-BR" sz="2800" b="1" dirty="0" err="1"/>
              <a:t>RStudio</a:t>
            </a:r>
            <a:r>
              <a:rPr lang="pt-BR" sz="2800" b="1" dirty="0"/>
              <a:t> Cloud</a:t>
            </a:r>
          </a:p>
          <a:p>
            <a:pPr lvl="1">
              <a:buFont typeface=""/>
              <a:buChar char="•"/>
            </a:pPr>
            <a:r>
              <a:rPr lang="pt-BR" sz="2800" b="1" dirty="0"/>
              <a:t>Acesso</a:t>
            </a:r>
            <a:r>
              <a:rPr lang="pt-BR" sz="2800" dirty="0"/>
              <a:t>: Vá para </a:t>
            </a:r>
            <a:r>
              <a:rPr lang="pt-BR" sz="2800" dirty="0">
                <a:hlinkClick r:id="rId2"/>
              </a:rPr>
              <a:t>RStudio Cloud</a:t>
            </a:r>
            <a:r>
              <a:rPr lang="pt-BR" sz="2800" dirty="0"/>
              <a:t>.</a:t>
            </a:r>
          </a:p>
          <a:p>
            <a:pPr lvl="1">
              <a:buFont typeface=""/>
              <a:buChar char="•"/>
            </a:pPr>
            <a:r>
              <a:rPr lang="pt-BR" sz="2800" b="1" dirty="0"/>
              <a:t>Login</a:t>
            </a:r>
            <a:r>
              <a:rPr lang="pt-BR" sz="2800" dirty="0"/>
              <a:t>: Use sua conta </a:t>
            </a:r>
            <a:r>
              <a:rPr lang="pt-BR" sz="2800" dirty="0" err="1"/>
              <a:t>RStudio</a:t>
            </a:r>
            <a:r>
              <a:rPr lang="pt-BR" sz="2800" dirty="0"/>
              <a:t> ou crie uma nova.</a:t>
            </a:r>
          </a:p>
          <a:p>
            <a:pPr lvl="1" indent="-228600">
              <a:buFont typeface=""/>
              <a:buChar char="•"/>
            </a:pPr>
            <a:r>
              <a:rPr lang="pt-BR" sz="2800" b="1" dirty="0"/>
              <a:t>Criar Novo Projeto</a:t>
            </a:r>
            <a:r>
              <a:rPr lang="pt-BR" sz="2800" dirty="0"/>
              <a:t>:</a:t>
            </a:r>
          </a:p>
          <a:p>
            <a:pPr marL="1143000" lvl="3" indent="-228600">
              <a:buFont typeface="Arial"/>
              <a:buChar char="•"/>
            </a:pPr>
            <a:r>
              <a:rPr lang="pt-BR" sz="2600" dirty="0"/>
              <a:t>Clique em "New Project".</a:t>
            </a:r>
          </a:p>
          <a:p>
            <a:pPr marL="1143000" lvl="3" indent="-228600">
              <a:buFont typeface="Arial"/>
              <a:buChar char="•"/>
            </a:pPr>
            <a:r>
              <a:rPr lang="pt-BR" sz="2600" dirty="0"/>
              <a:t>Escolha "New Project" para criar um projeto do zero.</a:t>
            </a:r>
          </a:p>
        </p:txBody>
      </p:sp>
    </p:spTree>
    <p:extLst>
      <p:ext uri="{BB962C8B-B14F-4D97-AF65-F5344CB8AC3E}">
        <p14:creationId xmlns:p14="http://schemas.microsoft.com/office/powerpoint/2010/main" val="1196693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76E22B-020F-6022-C7ED-922043C52B6F}"/>
              </a:ext>
            </a:extLst>
          </p:cNvPr>
          <p:cNvSpPr>
            <a:spLocks noGrp="1"/>
          </p:cNvSpPr>
          <p:nvPr>
            <p:ph type="title"/>
          </p:nvPr>
        </p:nvSpPr>
        <p:spPr/>
        <p:txBody>
          <a:bodyPr/>
          <a:lstStyle/>
          <a:p>
            <a:r>
              <a:rPr lang="pt-BR"/>
              <a:t>Introdução ao </a:t>
            </a:r>
            <a:r>
              <a:rPr lang="pt-BR" err="1"/>
              <a:t>RStudio</a:t>
            </a:r>
            <a:r>
              <a:rPr lang="pt-BR"/>
              <a:t> Cloud</a:t>
            </a:r>
          </a:p>
        </p:txBody>
      </p:sp>
      <p:sp>
        <p:nvSpPr>
          <p:cNvPr id="3" name="Espaço Reservado para Conteúdo 2">
            <a:extLst>
              <a:ext uri="{FF2B5EF4-FFF2-40B4-BE49-F238E27FC236}">
                <a16:creationId xmlns:a16="http://schemas.microsoft.com/office/drawing/2014/main" id="{44F557A9-55D4-4247-5A31-FED1544FA792}"/>
              </a:ext>
            </a:extLst>
          </p:cNvPr>
          <p:cNvSpPr>
            <a:spLocks noGrp="1"/>
          </p:cNvSpPr>
          <p:nvPr>
            <p:ph idx="1"/>
          </p:nvPr>
        </p:nvSpPr>
        <p:spPr>
          <a:xfrm>
            <a:off x="700635" y="2293126"/>
            <a:ext cx="10691265" cy="3804088"/>
          </a:xfrm>
        </p:spPr>
        <p:txBody>
          <a:bodyPr vert="horz" lIns="91440" tIns="45720" rIns="91440" bIns="45720" rtlCol="0" anchor="t">
            <a:normAutofit lnSpcReduction="10000"/>
          </a:bodyPr>
          <a:lstStyle/>
          <a:p>
            <a:r>
              <a:rPr lang="pt-BR" sz="2400" b="1" dirty="0"/>
              <a:t>Primeiros Passos no </a:t>
            </a:r>
            <a:r>
              <a:rPr lang="pt-BR" sz="2400" b="1" dirty="0" err="1"/>
              <a:t>RStudio</a:t>
            </a:r>
            <a:r>
              <a:rPr lang="pt-BR" sz="2400" b="1" dirty="0"/>
              <a:t> Cloud</a:t>
            </a:r>
          </a:p>
          <a:p>
            <a:pPr lvl="1" indent="-228600">
              <a:buFont typeface=""/>
              <a:buChar char="•"/>
            </a:pPr>
            <a:r>
              <a:rPr lang="pt-BR" sz="2400" b="1" dirty="0"/>
              <a:t>Criar um Novo Script</a:t>
            </a:r>
            <a:r>
              <a:rPr lang="pt-BR" sz="2400" dirty="0"/>
              <a:t>:</a:t>
            </a:r>
          </a:p>
          <a:p>
            <a:pPr marL="1143000" lvl="3" indent="-285750">
              <a:buFont typeface="Arial"/>
              <a:buChar char="•"/>
            </a:pPr>
            <a:r>
              <a:rPr lang="pt-BR" sz="2400" dirty="0"/>
              <a:t>Clique em "File" &gt; "New File" &gt; "R Script".</a:t>
            </a:r>
          </a:p>
          <a:p>
            <a:pPr marL="228600" indent="-228600">
              <a:buFont typeface=""/>
              <a:buChar char="•"/>
            </a:pPr>
            <a:r>
              <a:rPr lang="pt-BR" sz="2400" b="1" dirty="0"/>
              <a:t>Escrever Código</a:t>
            </a:r>
            <a:r>
              <a:rPr lang="pt-BR" sz="2400" dirty="0"/>
              <a:t>:</a:t>
            </a:r>
          </a:p>
          <a:p>
            <a:pPr lvl="1">
              <a:buFont typeface="Arial"/>
              <a:buChar char="•"/>
            </a:pPr>
            <a:r>
              <a:rPr lang="pt-BR" sz="2400" dirty="0">
                <a:ea typeface="+mn-lt"/>
                <a:cs typeface="+mn-lt"/>
              </a:rPr>
              <a:t>print("Olá, </a:t>
            </a:r>
            <a:r>
              <a:rPr lang="pt-BR" sz="2400" dirty="0" err="1">
                <a:ea typeface="+mn-lt"/>
                <a:cs typeface="+mn-lt"/>
              </a:rPr>
              <a:t>RStudio</a:t>
            </a:r>
            <a:r>
              <a:rPr lang="pt-BR" sz="2400" dirty="0">
                <a:ea typeface="+mn-lt"/>
                <a:cs typeface="+mn-lt"/>
              </a:rPr>
              <a:t> Cloud!")</a:t>
            </a:r>
            <a:endParaRPr lang="pt-BR" sz="2400" dirty="0"/>
          </a:p>
          <a:p>
            <a:pPr lvl="1">
              <a:buFont typeface="Arial"/>
              <a:buChar char="•"/>
            </a:pPr>
            <a:endParaRPr lang="pt-BR" sz="2400" dirty="0"/>
          </a:p>
          <a:p>
            <a:pPr>
              <a:buFont typeface="Arial"/>
              <a:buChar char="•"/>
            </a:pPr>
            <a:r>
              <a:rPr lang="pt-BR" sz="2400" b="1" dirty="0">
                <a:ea typeface="+mn-lt"/>
                <a:cs typeface="+mn-lt"/>
              </a:rPr>
              <a:t>Executar Código</a:t>
            </a:r>
            <a:r>
              <a:rPr lang="pt-BR" sz="2400" dirty="0">
                <a:ea typeface="+mn-lt"/>
                <a:cs typeface="+mn-lt"/>
              </a:rPr>
              <a:t>:</a:t>
            </a:r>
          </a:p>
          <a:p>
            <a:pPr lvl="1">
              <a:buFont typeface="Arial"/>
              <a:buChar char="•"/>
            </a:pPr>
            <a:r>
              <a:rPr lang="pt-BR" sz="2400" dirty="0">
                <a:ea typeface="+mn-lt"/>
                <a:cs typeface="+mn-lt"/>
              </a:rPr>
              <a:t>Selecione o código e pressione Ctrl + </a:t>
            </a:r>
            <a:r>
              <a:rPr lang="pt-BR" sz="2400" dirty="0" err="1">
                <a:ea typeface="+mn-lt"/>
                <a:cs typeface="+mn-lt"/>
              </a:rPr>
              <a:t>Enter</a:t>
            </a:r>
            <a:r>
              <a:rPr lang="pt-BR" sz="2400" dirty="0">
                <a:ea typeface="+mn-lt"/>
                <a:cs typeface="+mn-lt"/>
              </a:rPr>
              <a:t> ou clique no ícone de play.</a:t>
            </a:r>
          </a:p>
          <a:p>
            <a:pPr lvl="1">
              <a:buFont typeface="Arial"/>
              <a:buChar char="•"/>
            </a:pPr>
            <a:endParaRPr lang="pt-BR" sz="2400" dirty="0"/>
          </a:p>
          <a:p>
            <a:pPr>
              <a:buFont typeface=""/>
              <a:buChar char="•"/>
            </a:pPr>
            <a:endParaRPr lang="pt-BR" dirty="0"/>
          </a:p>
        </p:txBody>
      </p:sp>
    </p:spTree>
    <p:extLst>
      <p:ext uri="{BB962C8B-B14F-4D97-AF65-F5344CB8AC3E}">
        <p14:creationId xmlns:p14="http://schemas.microsoft.com/office/powerpoint/2010/main" val="2599397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5380DB-F218-7D51-B1C8-BA371FB5808A}"/>
              </a:ext>
            </a:extLst>
          </p:cNvPr>
          <p:cNvSpPr>
            <a:spLocks noGrp="1"/>
          </p:cNvSpPr>
          <p:nvPr>
            <p:ph type="title"/>
          </p:nvPr>
        </p:nvSpPr>
        <p:spPr/>
        <p:txBody>
          <a:bodyPr/>
          <a:lstStyle/>
          <a:p>
            <a:r>
              <a:rPr lang="pt-BR" dirty="0"/>
              <a:t>Introdução ao </a:t>
            </a:r>
            <a:r>
              <a:rPr lang="pt-BR" dirty="0" err="1"/>
              <a:t>rstudio</a:t>
            </a:r>
            <a:r>
              <a:rPr lang="pt-BR" dirty="0"/>
              <a:t> cloud</a:t>
            </a:r>
          </a:p>
        </p:txBody>
      </p:sp>
      <p:pic>
        <p:nvPicPr>
          <p:cNvPr id="7" name="Espaço Reservado para Conteúdo 6" descr="Interface gráfica do usuário, Texto, Aplicativo&#10;&#10;Descrição gerada automaticamente">
            <a:extLst>
              <a:ext uri="{FF2B5EF4-FFF2-40B4-BE49-F238E27FC236}">
                <a16:creationId xmlns:a16="http://schemas.microsoft.com/office/drawing/2014/main" id="{3570C0C5-E520-D4CF-667F-A5EB446B4DAF}"/>
              </a:ext>
            </a:extLst>
          </p:cNvPr>
          <p:cNvPicPr>
            <a:picLocks noGrp="1" noChangeAspect="1"/>
          </p:cNvPicPr>
          <p:nvPr>
            <p:ph idx="1"/>
          </p:nvPr>
        </p:nvPicPr>
        <p:blipFill>
          <a:blip r:embed="rId2"/>
          <a:stretch>
            <a:fillRect/>
          </a:stretch>
        </p:blipFill>
        <p:spPr>
          <a:xfrm>
            <a:off x="697890" y="2623736"/>
            <a:ext cx="10207924" cy="3204907"/>
          </a:xfrm>
        </p:spPr>
      </p:pic>
      <p:sp>
        <p:nvSpPr>
          <p:cNvPr id="4" name="Espaço Reservado para Data 3">
            <a:extLst>
              <a:ext uri="{FF2B5EF4-FFF2-40B4-BE49-F238E27FC236}">
                <a16:creationId xmlns:a16="http://schemas.microsoft.com/office/drawing/2014/main" id="{FCA66A19-9231-60A5-7112-2EDF1ADA8F4B}"/>
              </a:ext>
            </a:extLst>
          </p:cNvPr>
          <p:cNvSpPr>
            <a:spLocks noGrp="1"/>
          </p:cNvSpPr>
          <p:nvPr>
            <p:ph type="dt" sz="half" idx="10"/>
          </p:nvPr>
        </p:nvSpPr>
        <p:spPr/>
        <p:txBody>
          <a:bodyPr/>
          <a:lstStyle/>
          <a:p>
            <a:fld id="{D2020ABE-3143-411D-9D37-A0520124F21B}" type="datetime1">
              <a:t>11/08/2026</a:t>
            </a:fld>
            <a:endParaRPr lang="en-US"/>
          </a:p>
        </p:txBody>
      </p:sp>
      <p:sp>
        <p:nvSpPr>
          <p:cNvPr id="5" name="Espaço Reservado para Rodapé 4">
            <a:extLst>
              <a:ext uri="{FF2B5EF4-FFF2-40B4-BE49-F238E27FC236}">
                <a16:creationId xmlns:a16="http://schemas.microsoft.com/office/drawing/2014/main" id="{8455E401-5BEE-82FF-88D7-AC23C93C79A7}"/>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E3D00828-9A54-BCC4-035B-46CB4EA677C3}"/>
              </a:ext>
            </a:extLst>
          </p:cNvPr>
          <p:cNvSpPr>
            <a:spLocks noGrp="1"/>
          </p:cNvSpPr>
          <p:nvPr>
            <p:ph type="sldNum" sz="quarter" idx="12"/>
          </p:nvPr>
        </p:nvSpPr>
        <p:spPr/>
        <p:txBody>
          <a:bodyPr/>
          <a:lstStyle/>
          <a:p>
            <a:fld id="{E30AF5A0-43BB-4336-8627-9123B9144D80}" type="slidenum">
              <a:rPr lang="en-US" dirty="0"/>
              <a:t>34</a:t>
            </a:fld>
            <a:endParaRPr lang="en-US"/>
          </a:p>
        </p:txBody>
      </p:sp>
    </p:spTree>
    <p:extLst>
      <p:ext uri="{BB962C8B-B14F-4D97-AF65-F5344CB8AC3E}">
        <p14:creationId xmlns:p14="http://schemas.microsoft.com/office/powerpoint/2010/main" val="4119183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8126B4-CB03-C54F-AED7-DF864F535D06}"/>
              </a:ext>
            </a:extLst>
          </p:cNvPr>
          <p:cNvSpPr>
            <a:spLocks noGrp="1"/>
          </p:cNvSpPr>
          <p:nvPr>
            <p:ph type="title"/>
          </p:nvPr>
        </p:nvSpPr>
        <p:spPr/>
        <p:txBody>
          <a:bodyPr/>
          <a:lstStyle/>
          <a:p>
            <a:r>
              <a:rPr lang="pt-BR" dirty="0"/>
              <a:t>Exercícios</a:t>
            </a:r>
          </a:p>
        </p:txBody>
      </p:sp>
      <p:sp>
        <p:nvSpPr>
          <p:cNvPr id="3" name="Espaço Reservado para Conteúdo 2">
            <a:extLst>
              <a:ext uri="{FF2B5EF4-FFF2-40B4-BE49-F238E27FC236}">
                <a16:creationId xmlns:a16="http://schemas.microsoft.com/office/drawing/2014/main" id="{9947748F-BE9A-2841-9848-9F9CA5EC7C30}"/>
              </a:ext>
            </a:extLst>
          </p:cNvPr>
          <p:cNvSpPr>
            <a:spLocks noGrp="1"/>
          </p:cNvSpPr>
          <p:nvPr>
            <p:ph idx="1"/>
          </p:nvPr>
        </p:nvSpPr>
        <p:spPr>
          <a:xfrm>
            <a:off x="700635" y="1643449"/>
            <a:ext cx="10691265" cy="4285765"/>
          </a:xfrm>
        </p:spPr>
        <p:txBody>
          <a:bodyPr/>
          <a:lstStyle/>
          <a:p>
            <a:r>
              <a:rPr lang="pt-BR" dirty="0"/>
              <a:t>A partir da base </a:t>
            </a:r>
            <a:r>
              <a:rPr lang="pt-BR" dirty="0" err="1"/>
              <a:t>íris.csv</a:t>
            </a:r>
            <a:r>
              <a:rPr lang="pt-BR" dirty="0"/>
              <a:t> calcule utilizando o Google </a:t>
            </a:r>
            <a:r>
              <a:rPr lang="pt-BR" dirty="0" err="1"/>
              <a:t>Colab</a:t>
            </a:r>
            <a:r>
              <a:rPr lang="pt-BR" dirty="0"/>
              <a:t>.</a:t>
            </a:r>
          </a:p>
          <a:p>
            <a:pPr lvl="1"/>
            <a:r>
              <a:rPr lang="pt-BR" dirty="0"/>
              <a:t>A média e o desvio padrão das seguintes variáveis:</a:t>
            </a:r>
          </a:p>
          <a:p>
            <a:pPr lvl="2"/>
            <a:r>
              <a:rPr lang="pt-BR" dirty="0"/>
              <a:t>Comprimento da sépala</a:t>
            </a:r>
          </a:p>
          <a:p>
            <a:pPr lvl="2"/>
            <a:r>
              <a:rPr lang="pt-BR" dirty="0"/>
              <a:t>Comprimento da pétala</a:t>
            </a:r>
          </a:p>
          <a:p>
            <a:pPr lvl="2"/>
            <a:r>
              <a:rPr lang="pt-BR" dirty="0"/>
              <a:t>Largura da sépala</a:t>
            </a:r>
          </a:p>
          <a:p>
            <a:pPr lvl="2"/>
            <a:r>
              <a:rPr lang="pt-BR" dirty="0"/>
              <a:t>Largura da pétala</a:t>
            </a:r>
          </a:p>
          <a:p>
            <a:pPr lvl="2"/>
            <a:endParaRPr lang="pt-BR" dirty="0"/>
          </a:p>
          <a:p>
            <a:pPr lvl="1"/>
            <a:r>
              <a:rPr lang="pt-BR" dirty="0"/>
              <a:t>Valores de </a:t>
            </a:r>
            <a:r>
              <a:rPr lang="pt-BR" dirty="0" err="1"/>
              <a:t>max</a:t>
            </a:r>
            <a:r>
              <a:rPr lang="pt-BR" dirty="0"/>
              <a:t> e min para as variáveis citadas acima.</a:t>
            </a:r>
          </a:p>
        </p:txBody>
      </p:sp>
      <p:sp>
        <p:nvSpPr>
          <p:cNvPr id="4" name="Espaço Reservado para Data 3">
            <a:extLst>
              <a:ext uri="{FF2B5EF4-FFF2-40B4-BE49-F238E27FC236}">
                <a16:creationId xmlns:a16="http://schemas.microsoft.com/office/drawing/2014/main" id="{3A6230AE-11E4-7947-BD8C-7F89020D0B86}"/>
              </a:ext>
            </a:extLst>
          </p:cNvPr>
          <p:cNvSpPr>
            <a:spLocks noGrp="1"/>
          </p:cNvSpPr>
          <p:nvPr>
            <p:ph type="dt" sz="half" idx="10"/>
          </p:nvPr>
        </p:nvSpPr>
        <p:spPr/>
        <p:txBody>
          <a:bodyPr/>
          <a:lstStyle/>
          <a:p>
            <a:fld id="{2A39AE34-8016-3C4A-9015-BEF7EC237596}" type="datetime1">
              <a:rPr lang="en-US" smtClean="0"/>
              <a:t>8/11/2026</a:t>
            </a:fld>
            <a:endParaRPr lang="en-US"/>
          </a:p>
        </p:txBody>
      </p:sp>
      <p:sp>
        <p:nvSpPr>
          <p:cNvPr id="5" name="Espaço Reservado para Rodapé 4">
            <a:extLst>
              <a:ext uri="{FF2B5EF4-FFF2-40B4-BE49-F238E27FC236}">
                <a16:creationId xmlns:a16="http://schemas.microsoft.com/office/drawing/2014/main" id="{6326E5F5-96F7-D44B-B423-F3FB8EF59723}"/>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56488B28-5DA6-BB4C-B61C-5990E9831730}"/>
              </a:ext>
            </a:extLst>
          </p:cNvPr>
          <p:cNvSpPr>
            <a:spLocks noGrp="1"/>
          </p:cNvSpPr>
          <p:nvPr>
            <p:ph type="sldNum" sz="quarter" idx="12"/>
          </p:nvPr>
        </p:nvSpPr>
        <p:spPr/>
        <p:txBody>
          <a:bodyPr/>
          <a:lstStyle/>
          <a:p>
            <a:fld id="{E30AF5A0-43BB-4336-8627-9123B9144D80}" type="slidenum">
              <a:rPr lang="en-US" smtClean="0"/>
              <a:t>35</a:t>
            </a:fld>
            <a:endParaRPr lang="en-US"/>
          </a:p>
        </p:txBody>
      </p:sp>
    </p:spTree>
    <p:extLst>
      <p:ext uri="{BB962C8B-B14F-4D97-AF65-F5344CB8AC3E}">
        <p14:creationId xmlns:p14="http://schemas.microsoft.com/office/powerpoint/2010/main" val="965000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5E385C-C695-7E45-A783-1ADF5F6018CA}"/>
              </a:ext>
            </a:extLst>
          </p:cNvPr>
          <p:cNvSpPr>
            <a:spLocks noGrp="1"/>
          </p:cNvSpPr>
          <p:nvPr>
            <p:ph type="title"/>
          </p:nvPr>
        </p:nvSpPr>
        <p:spPr/>
        <p:txBody>
          <a:bodyPr/>
          <a:lstStyle/>
          <a:p>
            <a:r>
              <a:rPr lang="pt-BR" dirty="0"/>
              <a:t>exercícios</a:t>
            </a:r>
          </a:p>
        </p:txBody>
      </p:sp>
      <p:sp>
        <p:nvSpPr>
          <p:cNvPr id="3" name="Espaço Reservado para Conteúdo 2">
            <a:extLst>
              <a:ext uri="{FF2B5EF4-FFF2-40B4-BE49-F238E27FC236}">
                <a16:creationId xmlns:a16="http://schemas.microsoft.com/office/drawing/2014/main" id="{466234FF-5B26-A040-8B9F-C2765A1DB1C6}"/>
              </a:ext>
            </a:extLst>
          </p:cNvPr>
          <p:cNvSpPr>
            <a:spLocks noGrp="1"/>
          </p:cNvSpPr>
          <p:nvPr>
            <p:ph idx="1"/>
          </p:nvPr>
        </p:nvSpPr>
        <p:spPr/>
        <p:txBody>
          <a:bodyPr/>
          <a:lstStyle/>
          <a:p>
            <a:r>
              <a:rPr lang="pt-BR" dirty="0"/>
              <a:t>Faça um programa que leia 5 números reais e calcule a média ponderada desses números,. Entrada: A entrada contém cinco números reais: x1, x2, x3, x4 e x5. Saída: Calcule e imprima a média m (com 3 casas decimais) usando a fórmula:</a:t>
            </a:r>
          </a:p>
        </p:txBody>
      </p:sp>
      <p:sp>
        <p:nvSpPr>
          <p:cNvPr id="4" name="Espaço Reservado para Data 3">
            <a:extLst>
              <a:ext uri="{FF2B5EF4-FFF2-40B4-BE49-F238E27FC236}">
                <a16:creationId xmlns:a16="http://schemas.microsoft.com/office/drawing/2014/main" id="{2BDC422F-ABCE-6A42-A539-128328AFCDD8}"/>
              </a:ext>
            </a:extLst>
          </p:cNvPr>
          <p:cNvSpPr>
            <a:spLocks noGrp="1"/>
          </p:cNvSpPr>
          <p:nvPr>
            <p:ph type="dt" sz="half" idx="10"/>
          </p:nvPr>
        </p:nvSpPr>
        <p:spPr/>
        <p:txBody>
          <a:bodyPr/>
          <a:lstStyle/>
          <a:p>
            <a:fld id="{19106E4C-3868-7E4B-9887-CC74E04A7559}" type="datetime1">
              <a:rPr lang="en-US" smtClean="0"/>
              <a:t>8/11/2026</a:t>
            </a:fld>
            <a:endParaRPr lang="en-US"/>
          </a:p>
        </p:txBody>
      </p:sp>
      <p:sp>
        <p:nvSpPr>
          <p:cNvPr id="5" name="Espaço Reservado para Rodapé 4">
            <a:extLst>
              <a:ext uri="{FF2B5EF4-FFF2-40B4-BE49-F238E27FC236}">
                <a16:creationId xmlns:a16="http://schemas.microsoft.com/office/drawing/2014/main" id="{6F4035FB-F2F1-1641-BFA4-137E458F4107}"/>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F0775E3D-F761-7B4F-97DB-EF3A5453E3F4}"/>
              </a:ext>
            </a:extLst>
          </p:cNvPr>
          <p:cNvSpPr>
            <a:spLocks noGrp="1"/>
          </p:cNvSpPr>
          <p:nvPr>
            <p:ph type="sldNum" sz="quarter" idx="12"/>
          </p:nvPr>
        </p:nvSpPr>
        <p:spPr/>
        <p:txBody>
          <a:bodyPr/>
          <a:lstStyle/>
          <a:p>
            <a:fld id="{E30AF5A0-43BB-4336-8627-9123B9144D80}" type="slidenum">
              <a:rPr lang="en-US" smtClean="0"/>
              <a:t>36</a:t>
            </a:fld>
            <a:endParaRPr lang="en-US"/>
          </a:p>
        </p:txBody>
      </p:sp>
      <p:pic>
        <p:nvPicPr>
          <p:cNvPr id="8" name="Imagem 7">
            <a:extLst>
              <a:ext uri="{FF2B5EF4-FFF2-40B4-BE49-F238E27FC236}">
                <a16:creationId xmlns:a16="http://schemas.microsoft.com/office/drawing/2014/main" id="{8D058D94-B67F-0241-8019-D25846F15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7450" y="3609520"/>
            <a:ext cx="4737100" cy="1003300"/>
          </a:xfrm>
          <a:prstGeom prst="rect">
            <a:avLst/>
          </a:prstGeom>
        </p:spPr>
      </p:pic>
    </p:spTree>
    <p:extLst>
      <p:ext uri="{BB962C8B-B14F-4D97-AF65-F5344CB8AC3E}">
        <p14:creationId xmlns:p14="http://schemas.microsoft.com/office/powerpoint/2010/main" val="3699904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0EA910-E50C-F443-A672-748B64EA1263}"/>
              </a:ext>
            </a:extLst>
          </p:cNvPr>
          <p:cNvSpPr>
            <a:spLocks noGrp="1"/>
          </p:cNvSpPr>
          <p:nvPr>
            <p:ph type="title"/>
          </p:nvPr>
        </p:nvSpPr>
        <p:spPr/>
        <p:txBody>
          <a:bodyPr/>
          <a:lstStyle/>
          <a:p>
            <a:r>
              <a:rPr lang="pt-BR" dirty="0"/>
              <a:t>Exercícios</a:t>
            </a:r>
          </a:p>
        </p:txBody>
      </p:sp>
      <p:sp>
        <p:nvSpPr>
          <p:cNvPr id="3" name="Espaço Reservado para Conteúdo 2">
            <a:extLst>
              <a:ext uri="{FF2B5EF4-FFF2-40B4-BE49-F238E27FC236}">
                <a16:creationId xmlns:a16="http://schemas.microsoft.com/office/drawing/2014/main" id="{EF309141-2FF9-8841-88C7-EBA770D0BA56}"/>
              </a:ext>
            </a:extLst>
          </p:cNvPr>
          <p:cNvSpPr>
            <a:spLocks noGrp="1"/>
          </p:cNvSpPr>
          <p:nvPr>
            <p:ph idx="1"/>
          </p:nvPr>
        </p:nvSpPr>
        <p:spPr/>
        <p:txBody>
          <a:bodyPr/>
          <a:lstStyle/>
          <a:p>
            <a:r>
              <a:rPr lang="pt-BR" dirty="0"/>
              <a:t>A partir das notas e pesos: notas = [8.5, 7.8, 9.2, 6.9] pesos = [3, 3, 2, 2]</a:t>
            </a:r>
          </a:p>
          <a:p>
            <a:r>
              <a:rPr lang="pt-BR" dirty="0"/>
              <a:t>Calcule a média ponderada</a:t>
            </a:r>
          </a:p>
          <a:p>
            <a:endParaRPr lang="pt-BR" dirty="0"/>
          </a:p>
        </p:txBody>
      </p:sp>
      <p:sp>
        <p:nvSpPr>
          <p:cNvPr id="4" name="Espaço Reservado para Data 3">
            <a:extLst>
              <a:ext uri="{FF2B5EF4-FFF2-40B4-BE49-F238E27FC236}">
                <a16:creationId xmlns:a16="http://schemas.microsoft.com/office/drawing/2014/main" id="{1D01E0A9-95E4-9247-AB8C-FF466C36AB8B}"/>
              </a:ext>
            </a:extLst>
          </p:cNvPr>
          <p:cNvSpPr>
            <a:spLocks noGrp="1"/>
          </p:cNvSpPr>
          <p:nvPr>
            <p:ph type="dt" sz="half" idx="10"/>
          </p:nvPr>
        </p:nvSpPr>
        <p:spPr/>
        <p:txBody>
          <a:bodyPr/>
          <a:lstStyle/>
          <a:p>
            <a:fld id="{67681025-AB48-BB49-8CC7-3B2BB7F51FC3}" type="datetime1">
              <a:rPr lang="en-US" smtClean="0"/>
              <a:t>8/11/2026</a:t>
            </a:fld>
            <a:endParaRPr lang="en-US"/>
          </a:p>
        </p:txBody>
      </p:sp>
      <p:sp>
        <p:nvSpPr>
          <p:cNvPr id="5" name="Espaço Reservado para Rodapé 4">
            <a:extLst>
              <a:ext uri="{FF2B5EF4-FFF2-40B4-BE49-F238E27FC236}">
                <a16:creationId xmlns:a16="http://schemas.microsoft.com/office/drawing/2014/main" id="{8A8E1961-6929-C64C-8522-344CDC6A9207}"/>
              </a:ext>
            </a:extLst>
          </p:cNvPr>
          <p:cNvSpPr>
            <a:spLocks noGrp="1"/>
          </p:cNvSpPr>
          <p:nvPr>
            <p:ph type="ftr" sz="quarter" idx="11"/>
          </p:nvPr>
        </p:nvSpPr>
        <p:spPr/>
        <p:txBody>
          <a:bodyPr/>
          <a:lstStyle/>
          <a:p>
            <a:r>
              <a:rPr lang="en-US"/>
              <a:t>
              </a:t>
            </a:r>
          </a:p>
        </p:txBody>
      </p:sp>
      <p:sp>
        <p:nvSpPr>
          <p:cNvPr id="6" name="Espaço Reservado para Número de Slide 5">
            <a:extLst>
              <a:ext uri="{FF2B5EF4-FFF2-40B4-BE49-F238E27FC236}">
                <a16:creationId xmlns:a16="http://schemas.microsoft.com/office/drawing/2014/main" id="{679479A5-C6CD-494B-AD5C-CA60572A9D37}"/>
              </a:ext>
            </a:extLst>
          </p:cNvPr>
          <p:cNvSpPr>
            <a:spLocks noGrp="1"/>
          </p:cNvSpPr>
          <p:nvPr>
            <p:ph type="sldNum" sz="quarter" idx="12"/>
          </p:nvPr>
        </p:nvSpPr>
        <p:spPr/>
        <p:txBody>
          <a:bodyPr/>
          <a:lstStyle/>
          <a:p>
            <a:fld id="{E30AF5A0-43BB-4336-8627-9123B9144D80}" type="slidenum">
              <a:rPr lang="en-US" smtClean="0"/>
              <a:t>37</a:t>
            </a:fld>
            <a:endParaRPr lang="en-US"/>
          </a:p>
        </p:txBody>
      </p:sp>
    </p:spTree>
    <p:extLst>
      <p:ext uri="{BB962C8B-B14F-4D97-AF65-F5344CB8AC3E}">
        <p14:creationId xmlns:p14="http://schemas.microsoft.com/office/powerpoint/2010/main" val="2395449735"/>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1251</TotalTime>
  <Words>2242</Words>
  <Application>Microsoft Office PowerPoint</Application>
  <PresentationFormat>Widescreen</PresentationFormat>
  <Paragraphs>259</Paragraphs>
  <Slides>37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Aptos</vt:lpstr>
      <vt:lpstr>Aptos Display</vt:lpstr>
      <vt:lpstr>Arial</vt:lpstr>
      <vt:lpstr>Calibri</vt:lpstr>
      <vt:lpstr>Calisto MT</vt:lpstr>
      <vt:lpstr>Courier New</vt:lpstr>
      <vt:lpstr>Univers Condensed</vt:lpstr>
      <vt:lpstr>Wingdings</vt:lpstr>
      <vt:lpstr>ChronicleVTI</vt:lpstr>
      <vt:lpstr>Universidade presbiteriana mackenzie  Análise de Dados</vt:lpstr>
      <vt:lpstr>Ementa</vt:lpstr>
      <vt:lpstr>Critério de Avaliação</vt:lpstr>
      <vt:lpstr>Bibliografia</vt:lpstr>
      <vt:lpstr>Objetivos do curso</vt:lpstr>
      <vt:lpstr>análise</vt:lpstr>
      <vt:lpstr>Quais são as análises?</vt:lpstr>
      <vt:lpstr>Quais análises?</vt:lpstr>
      <vt:lpstr>Passos para a análise de dados</vt:lpstr>
      <vt:lpstr>Porque analisamos os dados?</vt:lpstr>
      <vt:lpstr>Alguns exemplos de perguntas que podemos responder usando análise de dados</vt:lpstr>
      <vt:lpstr>Apresentação do Laboratório</vt:lpstr>
      <vt:lpstr>Introdução ao Google Colab</vt:lpstr>
      <vt:lpstr>Introdução ao Google Colab</vt:lpstr>
      <vt:lpstr>Bibliotecas</vt:lpstr>
      <vt:lpstr>bibliotecas</vt:lpstr>
      <vt:lpstr>bibliotecas</vt:lpstr>
      <vt:lpstr>bibliotecas</vt:lpstr>
      <vt:lpstr>Introdução ao Google Colab</vt:lpstr>
      <vt:lpstr>Introdução ao google Colab – Alterar nome do notebook</vt:lpstr>
      <vt:lpstr>Introdução ao google Colab – Alterar nome do notebook</vt:lpstr>
      <vt:lpstr>Introdução ao Google Colab</vt:lpstr>
      <vt:lpstr>Introdução ao google colab</vt:lpstr>
      <vt:lpstr>bibliotecas</vt:lpstr>
      <vt:lpstr>Introdução ao google Colab</vt:lpstr>
      <vt:lpstr>Introdução ao google Colab</vt:lpstr>
      <vt:lpstr>Introdução ao google colab</vt:lpstr>
      <vt:lpstr>bibliotecas</vt:lpstr>
      <vt:lpstr>bibliotecas</vt:lpstr>
      <vt:lpstr>Introdução ao RStudio</vt:lpstr>
      <vt:lpstr>Introdução ao RStudio</vt:lpstr>
      <vt:lpstr>Introdução ao RStudio Cloud</vt:lpstr>
      <vt:lpstr>Introdução ao RStudio Cloud</vt:lpstr>
      <vt:lpstr>Introdução ao rstudio cloud</vt:lpstr>
      <vt:lpstr>Exercícios</vt:lpstr>
      <vt:lpstr>exercícios</vt:lpstr>
      <vt:lpstr>Exercícios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
  <cp:lastModifiedBy>ROGERIO DE OLIVEIRA</cp:lastModifiedBy>
  <cp:revision>227</cp:revision>
  <dcterms:created xsi:type="dcterms:W3CDTF">2024-07-30T00:52:05Z</dcterms:created>
  <dcterms:modified xsi:type="dcterms:W3CDTF">2026-08-11T10:28:39Z</dcterms:modified>
</cp:coreProperties>
</file>